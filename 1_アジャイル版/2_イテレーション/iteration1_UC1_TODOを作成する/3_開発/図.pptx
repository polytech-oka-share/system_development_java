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57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56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FA0A0-77B3-43B0-B772-41877AAA9D36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B5781-0D99-4B3B-A48B-C44FD0FB31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5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B5781-0D99-4B3B-A48B-C44FD0FB314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193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B5781-0D99-4B3B-A48B-C44FD0FB314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105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F58E23-74B9-433F-BC17-FD32016CE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FC41D9-9CAC-474A-8937-E9C1A4A72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A4A470-865F-4778-91DA-1176AA54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707A99-1722-4101-B06E-27712C457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0D6F21-8D23-4F4E-9DFF-9EE1BD45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00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46C69D-041C-4F07-BD4B-BDCAE61E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0AA0A9-FE4B-48B6-97E8-B5B3DDC7D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205C38-8E72-4922-8BF1-661BB2AEA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9AF598-5268-43C9-9506-FFAE7DBE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723776-756F-40A4-9796-D9D1C03F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404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52B985-DCCF-446B-914A-26307D0B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FF75F3-D9F0-436D-BB70-E415F6455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01C020-9C9A-4D55-A699-AA997F2D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113F4D-FF1D-47C9-A6BF-9D5631C4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78652B-E7E5-40CB-A5B9-6D9B85DB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47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1532B8-A564-4511-A105-AED0F864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EDF4B3-E5BB-44B5-977D-F9D2A3B8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70ACE1-3C05-42ED-8E66-777AD4AAF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2B52C8-0934-4174-945D-209BF4CB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E65A31-C752-434F-9DE1-17A52831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519790-5101-4F96-BE13-03E4BCA3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77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2AD49F-08DC-4F59-B201-F9F4FB40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F99993-3B6A-47FD-99DC-47E4BCA8A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F4163B-7232-4544-B8C3-D4CA7FF25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C0A7C0D-A85C-4A65-977F-E2CE63EDA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1A5C8FE-C4B8-4DD0-B3BC-6C92192A4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264512-BAEB-40FB-81EE-3B1E546F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F81797-E324-4B37-B58C-696FF4C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B9E7D-49D5-4590-8824-6EAAE2D8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328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080EE6-A5BA-472B-9E59-A35B853D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A369DC7-4CBD-4ADE-B63F-4759770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A1356A-19B7-4D18-B1A5-A1F494C8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E16297-71F8-41AC-BC47-BD060E6A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989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98FA3F5-6209-4794-A6E7-92D2E50D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9C0B774-2810-40F6-BA66-41BA938A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D1D10E-FA49-4FE6-8DB2-B871BDCC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96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229CA3-BF59-45C2-9AE2-29BB9C12D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A21369-B09F-48F2-8E9D-235776AA2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A482DE-2D32-4E67-A602-7EFD46B75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C89DB2-CEDF-4578-8DEC-D2EC75F2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7A16DD-FEC6-4158-B231-40F9C3A9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CE50E8-125A-4758-A4F1-C9AE78AE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97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182CD8-98E7-44B5-A3F9-2883333EB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4E78C2-C9E6-47A5-8629-824B7D07D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7CEE59-78C9-4EDE-B77C-374359C86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CE32EC-A1A5-4F1E-B287-14ABDB8D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92F428-7F39-498C-BA96-0676B2EAC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835EDB-8EBD-491E-8899-E39D3EAA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786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080F94-93AB-4FED-B41C-F4126239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3CA07D-834E-4C91-AAE3-CE58C249A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074C0E-6ED7-4ADF-BC8A-EF8F510D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992D36-C48D-4A38-9A6B-50CD82D2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BDF99B-08F9-4E90-BEFF-B853363B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710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2523140-39F2-4652-8BF2-6360EA70B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046B66-ADB1-4DE3-AF10-F0A97073D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614102-425B-4580-8966-341FCAF2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36BB0C-1D42-434F-A15E-63EACFB2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89C9C9-6AD2-4260-BFD8-37C569A2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92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B8F445F-523E-443E-AACB-D0C117F9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7B9FFA-3083-4348-9EB1-D4EB1C22D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8D41DE-0777-4BD3-9479-0916DAB61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65D81-EA43-42CA-AE0D-9B81DC3F1A03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B66580-58C3-46F6-A6F2-80F58F395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10C3EA-2D3B-4AC3-B6E8-15C900170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0C6B2-4552-436D-9CB8-1C66383685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67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矢印: 右 6">
            <a:extLst>
              <a:ext uri="{FF2B5EF4-FFF2-40B4-BE49-F238E27FC236}">
                <a16:creationId xmlns:a16="http://schemas.microsoft.com/office/drawing/2014/main" id="{1E8332A0-EC10-4510-9591-287A167D9F10}"/>
              </a:ext>
            </a:extLst>
          </p:cNvPr>
          <p:cNvSpPr/>
          <p:nvPr/>
        </p:nvSpPr>
        <p:spPr>
          <a:xfrm>
            <a:off x="4913894" y="1729183"/>
            <a:ext cx="1894788" cy="603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9C4D65-29E5-46EC-B7B0-4609E72D4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194" y="1106059"/>
            <a:ext cx="1305270" cy="185803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A0EBCA-A4CC-44C9-B179-12690096E28E}"/>
              </a:ext>
            </a:extLst>
          </p:cNvPr>
          <p:cNvSpPr/>
          <p:nvPr/>
        </p:nvSpPr>
        <p:spPr>
          <a:xfrm>
            <a:off x="1018094" y="1254100"/>
            <a:ext cx="3516199" cy="19702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ユースケース仕様書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アクティビティ図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クラス図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シーケンス図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テスト仕様書</a:t>
            </a:r>
            <a:r>
              <a:rPr kumimoji="1" lang="en-US" altLang="ja-JP" b="1" dirty="0"/>
              <a:t>…</a:t>
            </a:r>
            <a:endParaRPr kumimoji="1" lang="ja-JP" altLang="en-US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A79812-3F1E-4AE6-A90B-34C1B3877302}"/>
              </a:ext>
            </a:extLst>
          </p:cNvPr>
          <p:cNvSpPr txBox="1"/>
          <p:nvPr/>
        </p:nvSpPr>
        <p:spPr>
          <a:xfrm>
            <a:off x="1305611" y="869288"/>
            <a:ext cx="294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各種設計書・設計図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D5D866C-3D63-42B0-B8F0-C22A0C4FA7D0}"/>
              </a:ext>
            </a:extLst>
          </p:cNvPr>
          <p:cNvSpPr txBox="1"/>
          <p:nvPr/>
        </p:nvSpPr>
        <p:spPr>
          <a:xfrm>
            <a:off x="4327247" y="2979575"/>
            <a:ext cx="294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コーディング</a:t>
            </a:r>
            <a:endParaRPr kumimoji="1" lang="en-US" altLang="ja-JP" b="1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74976B6-3B5F-4E98-9A36-F0657029A7AA}"/>
              </a:ext>
            </a:extLst>
          </p:cNvPr>
          <p:cNvSpPr/>
          <p:nvPr/>
        </p:nvSpPr>
        <p:spPr>
          <a:xfrm>
            <a:off x="7028026" y="1276328"/>
            <a:ext cx="2243579" cy="9110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b="1" dirty="0"/>
              <a:t>p</a:t>
            </a:r>
            <a:r>
              <a:rPr kumimoji="1" lang="en-US" altLang="ja-JP" b="1" dirty="0"/>
              <a:t>ublic class Task{</a:t>
            </a:r>
          </a:p>
          <a:p>
            <a:r>
              <a:rPr lang="en-US" altLang="ja-JP" b="1" dirty="0"/>
              <a:t>…</a:t>
            </a:r>
            <a:endParaRPr kumimoji="1" lang="en-US" altLang="ja-JP" b="1" dirty="0"/>
          </a:p>
          <a:p>
            <a:r>
              <a:rPr kumimoji="1" lang="en-US" altLang="ja-JP" b="1" dirty="0"/>
              <a:t>}</a:t>
            </a:r>
            <a:endParaRPr kumimoji="1" lang="ja-JP" altLang="en-US" b="1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38E8A2-48B4-4145-9C97-10AF0BD4B9C2}"/>
              </a:ext>
            </a:extLst>
          </p:cNvPr>
          <p:cNvSpPr/>
          <p:nvPr/>
        </p:nvSpPr>
        <p:spPr>
          <a:xfrm>
            <a:off x="7584209" y="1741125"/>
            <a:ext cx="3987539" cy="9110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b="1" dirty="0"/>
              <a:t>p</a:t>
            </a:r>
            <a:r>
              <a:rPr kumimoji="1" lang="en-US" altLang="ja-JP" b="1" dirty="0"/>
              <a:t>ublic interface </a:t>
            </a:r>
            <a:r>
              <a:rPr kumimoji="1" lang="en-US" altLang="ja-JP" b="1" dirty="0" err="1"/>
              <a:t>TaskRepository</a:t>
            </a:r>
            <a:r>
              <a:rPr kumimoji="1" lang="en-US" altLang="ja-JP" b="1" dirty="0"/>
              <a:t>{</a:t>
            </a:r>
          </a:p>
          <a:p>
            <a:r>
              <a:rPr lang="en-US" altLang="ja-JP" b="1" dirty="0"/>
              <a:t>…</a:t>
            </a:r>
            <a:endParaRPr kumimoji="1" lang="en-US" altLang="ja-JP" b="1" dirty="0"/>
          </a:p>
          <a:p>
            <a:r>
              <a:rPr kumimoji="1" lang="en-US" altLang="ja-JP" b="1" dirty="0"/>
              <a:t>}</a:t>
            </a:r>
            <a:endParaRPr kumimoji="1" lang="ja-JP" altLang="en-US" b="1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6596C66-D22A-48F8-8C36-5E57EF203920}"/>
              </a:ext>
            </a:extLst>
          </p:cNvPr>
          <p:cNvSpPr/>
          <p:nvPr/>
        </p:nvSpPr>
        <p:spPr>
          <a:xfrm>
            <a:off x="8149816" y="2205922"/>
            <a:ext cx="3780148" cy="9110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b="1" dirty="0"/>
              <a:t>p</a:t>
            </a:r>
            <a:r>
              <a:rPr kumimoji="1" lang="en-US" altLang="ja-JP" b="1" dirty="0"/>
              <a:t>ublic class </a:t>
            </a:r>
            <a:r>
              <a:rPr kumimoji="1" lang="en-US" altLang="ja-JP" b="1" dirty="0" err="1"/>
              <a:t>ConsoleController</a:t>
            </a:r>
            <a:r>
              <a:rPr kumimoji="1" lang="en-US" altLang="ja-JP" b="1" dirty="0"/>
              <a:t>{</a:t>
            </a:r>
          </a:p>
          <a:p>
            <a:r>
              <a:rPr lang="en-US" altLang="ja-JP" b="1" dirty="0"/>
              <a:t>…</a:t>
            </a:r>
            <a:endParaRPr kumimoji="1" lang="en-US" altLang="ja-JP" b="1" dirty="0"/>
          </a:p>
          <a:p>
            <a:r>
              <a:rPr kumimoji="1" lang="en-US" altLang="ja-JP" b="1" dirty="0"/>
              <a:t>}</a:t>
            </a:r>
            <a:endParaRPr kumimoji="1" lang="ja-JP" altLang="en-US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A61A548-DB32-4980-867D-6F6BD57E2901}"/>
              </a:ext>
            </a:extLst>
          </p:cNvPr>
          <p:cNvSpPr/>
          <p:nvPr/>
        </p:nvSpPr>
        <p:spPr>
          <a:xfrm>
            <a:off x="245096" y="216816"/>
            <a:ext cx="5752581" cy="5656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/>
              <a:t>プログラム開発 </a:t>
            </a:r>
            <a:r>
              <a:rPr lang="en-US" altLang="ja-JP" b="1" dirty="0"/>
              <a:t>… PG</a:t>
            </a:r>
            <a:r>
              <a:rPr lang="ja-JP" altLang="en-US" b="1" dirty="0"/>
              <a:t>はコーディング作業を行う</a:t>
            </a:r>
            <a:endParaRPr kumimoji="1" lang="ja-JP" altLang="en-US" b="1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7EC88AB-C5C4-4F74-81D1-1D158E3ACEB6}"/>
              </a:ext>
            </a:extLst>
          </p:cNvPr>
          <p:cNvSpPr/>
          <p:nvPr/>
        </p:nvSpPr>
        <p:spPr>
          <a:xfrm>
            <a:off x="245096" y="3649461"/>
            <a:ext cx="5752581" cy="5656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/>
              <a:t>単体テスト </a:t>
            </a:r>
            <a:r>
              <a:rPr lang="en-US" altLang="ja-JP" b="1" dirty="0"/>
              <a:t>… PG</a:t>
            </a:r>
            <a:r>
              <a:rPr lang="ja-JP" altLang="en-US" b="1" dirty="0"/>
              <a:t>自身で作ったクラスをテストする</a:t>
            </a:r>
            <a:endParaRPr kumimoji="1" lang="ja-JP" altLang="en-US" b="1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1F0CEE9-723C-4F11-83B9-F7868494E7F1}"/>
              </a:ext>
            </a:extLst>
          </p:cNvPr>
          <p:cNvSpPr/>
          <p:nvPr/>
        </p:nvSpPr>
        <p:spPr>
          <a:xfrm>
            <a:off x="183821" y="4595628"/>
            <a:ext cx="2243579" cy="9110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b="1" dirty="0"/>
              <a:t>p</a:t>
            </a:r>
            <a:r>
              <a:rPr kumimoji="1" lang="en-US" altLang="ja-JP" b="1" dirty="0"/>
              <a:t>ublic class Task{</a:t>
            </a:r>
          </a:p>
          <a:p>
            <a:r>
              <a:rPr lang="en-US" altLang="ja-JP" b="1" dirty="0"/>
              <a:t>…</a:t>
            </a:r>
            <a:endParaRPr kumimoji="1" lang="en-US" altLang="ja-JP" b="1" dirty="0"/>
          </a:p>
          <a:p>
            <a:r>
              <a:rPr kumimoji="1" lang="en-US" altLang="ja-JP" b="1" dirty="0"/>
              <a:t>}</a:t>
            </a:r>
            <a:endParaRPr kumimoji="1" lang="ja-JP" altLang="en-US" b="1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63ADB7-835B-4B4E-8107-2794D767DAE4}"/>
              </a:ext>
            </a:extLst>
          </p:cNvPr>
          <p:cNvSpPr/>
          <p:nvPr/>
        </p:nvSpPr>
        <p:spPr>
          <a:xfrm>
            <a:off x="740004" y="5060425"/>
            <a:ext cx="3987539" cy="9110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b="1" dirty="0"/>
              <a:t>p</a:t>
            </a:r>
            <a:r>
              <a:rPr kumimoji="1" lang="en-US" altLang="ja-JP" b="1" dirty="0"/>
              <a:t>ublic interface </a:t>
            </a:r>
            <a:r>
              <a:rPr kumimoji="1" lang="en-US" altLang="ja-JP" b="1" dirty="0" err="1"/>
              <a:t>TaskRepository</a:t>
            </a:r>
            <a:r>
              <a:rPr kumimoji="1" lang="en-US" altLang="ja-JP" b="1" dirty="0"/>
              <a:t>{</a:t>
            </a:r>
          </a:p>
          <a:p>
            <a:r>
              <a:rPr lang="en-US" altLang="ja-JP" b="1" dirty="0"/>
              <a:t>…</a:t>
            </a:r>
            <a:endParaRPr kumimoji="1" lang="en-US" altLang="ja-JP" b="1" dirty="0"/>
          </a:p>
          <a:p>
            <a:r>
              <a:rPr kumimoji="1" lang="en-US" altLang="ja-JP" b="1" dirty="0"/>
              <a:t>}</a:t>
            </a:r>
            <a:endParaRPr kumimoji="1" lang="ja-JP" altLang="en-US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95F7ED9-5914-4A92-8733-7FD69BD9CBFD}"/>
              </a:ext>
            </a:extLst>
          </p:cNvPr>
          <p:cNvSpPr/>
          <p:nvPr/>
        </p:nvSpPr>
        <p:spPr>
          <a:xfrm>
            <a:off x="1305611" y="5525222"/>
            <a:ext cx="3780148" cy="9110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b="1" dirty="0"/>
              <a:t>p</a:t>
            </a:r>
            <a:r>
              <a:rPr kumimoji="1" lang="en-US" altLang="ja-JP" b="1" dirty="0"/>
              <a:t>ublic class </a:t>
            </a:r>
            <a:r>
              <a:rPr kumimoji="1" lang="en-US" altLang="ja-JP" b="1" dirty="0" err="1"/>
              <a:t>ConsoleController</a:t>
            </a:r>
            <a:r>
              <a:rPr kumimoji="1" lang="en-US" altLang="ja-JP" b="1" dirty="0"/>
              <a:t>{</a:t>
            </a:r>
          </a:p>
          <a:p>
            <a:r>
              <a:rPr lang="en-US" altLang="ja-JP" b="1" dirty="0"/>
              <a:t>…</a:t>
            </a:r>
            <a:endParaRPr kumimoji="1" lang="en-US" altLang="ja-JP" b="1" dirty="0"/>
          </a:p>
          <a:p>
            <a:r>
              <a:rPr kumimoji="1" lang="en-US" altLang="ja-JP" b="1" dirty="0"/>
              <a:t>}</a:t>
            </a:r>
            <a:endParaRPr kumimoji="1" lang="ja-JP" altLang="en-US" b="1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373534DD-1A94-42D5-ACBE-23E5CF5D082F}"/>
              </a:ext>
            </a:extLst>
          </p:cNvPr>
          <p:cNvSpPr/>
          <p:nvPr/>
        </p:nvSpPr>
        <p:spPr>
          <a:xfrm>
            <a:off x="5127527" y="5163207"/>
            <a:ext cx="1894788" cy="603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5B7F2A7-0683-4052-84C5-26602C8D7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827" y="4540083"/>
            <a:ext cx="1305270" cy="1858036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F3CEEE4-4BAD-411B-B30A-29A2AF1C3BE5}"/>
              </a:ext>
            </a:extLst>
          </p:cNvPr>
          <p:cNvSpPr txBox="1"/>
          <p:nvPr/>
        </p:nvSpPr>
        <p:spPr>
          <a:xfrm>
            <a:off x="4534293" y="6380127"/>
            <a:ext cx="294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テスト</a:t>
            </a:r>
            <a:endParaRPr kumimoji="1" lang="en-US" altLang="ja-JP" b="1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2FEF61B-2C44-4D45-9B26-EF425DD6F400}"/>
              </a:ext>
            </a:extLst>
          </p:cNvPr>
          <p:cNvSpPr/>
          <p:nvPr/>
        </p:nvSpPr>
        <p:spPr>
          <a:xfrm>
            <a:off x="7513505" y="4415216"/>
            <a:ext cx="3516199" cy="19702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ユースケース仕様書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アクティビティ図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クラス図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シーケンス図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テスト仕様書</a:t>
            </a:r>
            <a:r>
              <a:rPr kumimoji="1" lang="en-US" altLang="ja-JP" b="1" dirty="0"/>
              <a:t>…</a:t>
            </a:r>
            <a:endParaRPr kumimoji="1" lang="ja-JP" altLang="en-US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957EF15-76CB-4D51-B840-CA3FC0E100A0}"/>
              </a:ext>
            </a:extLst>
          </p:cNvPr>
          <p:cNvSpPr txBox="1"/>
          <p:nvPr/>
        </p:nvSpPr>
        <p:spPr>
          <a:xfrm>
            <a:off x="7801022" y="4030404"/>
            <a:ext cx="294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各種設計書・設計図</a:t>
            </a:r>
          </a:p>
        </p:txBody>
      </p:sp>
    </p:spTree>
    <p:extLst>
      <p:ext uri="{BB962C8B-B14F-4D97-AF65-F5344CB8AC3E}">
        <p14:creationId xmlns:p14="http://schemas.microsoft.com/office/powerpoint/2010/main" val="232306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FB813CF-B5EB-4A7A-8572-2C1DF6E2EAF9}"/>
              </a:ext>
            </a:extLst>
          </p:cNvPr>
          <p:cNvSpPr/>
          <p:nvPr/>
        </p:nvSpPr>
        <p:spPr>
          <a:xfrm>
            <a:off x="594195" y="2376129"/>
            <a:ext cx="4709325" cy="247215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A7406A-7F53-42FF-B875-AFC1798E6BFC}"/>
              </a:ext>
            </a:extLst>
          </p:cNvPr>
          <p:cNvSpPr/>
          <p:nvPr/>
        </p:nvSpPr>
        <p:spPr>
          <a:xfrm>
            <a:off x="4783393" y="770848"/>
            <a:ext cx="2625213" cy="12388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a</a:t>
            </a:r>
            <a:r>
              <a:rPr kumimoji="1" lang="en-US" altLang="ja-JP" sz="2800" b="1" dirty="0">
                <a:solidFill>
                  <a:schemeClr val="tx1"/>
                </a:solidFill>
              </a:rPr>
              <a:t>pplication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7C87692-7ED6-4E00-9EC6-E235D31E9A8D}"/>
              </a:ext>
            </a:extLst>
          </p:cNvPr>
          <p:cNvSpPr/>
          <p:nvPr/>
        </p:nvSpPr>
        <p:spPr>
          <a:xfrm>
            <a:off x="7702592" y="770847"/>
            <a:ext cx="2625213" cy="12388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i</a:t>
            </a:r>
            <a:r>
              <a:rPr kumimoji="1" lang="en-US" altLang="ja-JP" sz="2800" b="1" dirty="0">
                <a:solidFill>
                  <a:schemeClr val="tx1"/>
                </a:solidFill>
              </a:rPr>
              <a:t>nfrastructure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E5962D-5E49-4D22-9837-F194AF2EEDE0}"/>
              </a:ext>
            </a:extLst>
          </p:cNvPr>
          <p:cNvSpPr txBox="1"/>
          <p:nvPr/>
        </p:nvSpPr>
        <p:spPr>
          <a:xfrm>
            <a:off x="594195" y="2112050"/>
            <a:ext cx="3037227" cy="40011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/>
              <a:t>domain</a:t>
            </a:r>
            <a:r>
              <a:rPr lang="ja-JP" altLang="en-US" sz="2000" b="1" dirty="0"/>
              <a:t>（パッケージ）</a:t>
            </a:r>
            <a:endParaRPr kumimoji="1" lang="ja-JP" altLang="en-US" sz="2000" b="1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E7760F6-88A6-440F-9266-39DD2C0582FC}"/>
              </a:ext>
            </a:extLst>
          </p:cNvPr>
          <p:cNvSpPr/>
          <p:nvPr/>
        </p:nvSpPr>
        <p:spPr>
          <a:xfrm>
            <a:off x="815179" y="2776239"/>
            <a:ext cx="1928021" cy="9168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>
                <a:solidFill>
                  <a:schemeClr val="tx1"/>
                </a:solidFill>
              </a:rPr>
              <a:t>model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5245458-7940-476A-A5BC-B457F510EB33}"/>
              </a:ext>
            </a:extLst>
          </p:cNvPr>
          <p:cNvSpPr/>
          <p:nvPr/>
        </p:nvSpPr>
        <p:spPr>
          <a:xfrm>
            <a:off x="3194542" y="2776238"/>
            <a:ext cx="1928021" cy="9168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>
                <a:solidFill>
                  <a:schemeClr val="tx1"/>
                </a:solidFill>
              </a:rPr>
              <a:t>repository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450CD5D-6059-4B11-995B-55E0F4BB6F3C}"/>
              </a:ext>
            </a:extLst>
          </p:cNvPr>
          <p:cNvSpPr txBox="1"/>
          <p:nvPr/>
        </p:nvSpPr>
        <p:spPr>
          <a:xfrm>
            <a:off x="815178" y="3790532"/>
            <a:ext cx="1928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純粋な</a:t>
            </a:r>
            <a:r>
              <a:rPr lang="en-US" altLang="ja-JP" b="1" dirty="0"/>
              <a:t>BL</a:t>
            </a:r>
            <a:r>
              <a:rPr lang="ja-JP" altLang="en-US" b="1" dirty="0"/>
              <a:t>を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モデル化した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クラスを格納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08B83F-D2BE-4643-BA04-74B1B5DE952F}"/>
              </a:ext>
            </a:extLst>
          </p:cNvPr>
          <p:cNvSpPr txBox="1"/>
          <p:nvPr/>
        </p:nvSpPr>
        <p:spPr>
          <a:xfrm>
            <a:off x="3194542" y="3790532"/>
            <a:ext cx="1928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BL</a:t>
            </a:r>
            <a:r>
              <a:rPr kumimoji="1" lang="ja-JP" altLang="en-US" b="1" dirty="0"/>
              <a:t>を利用する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ためのポートを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格納</a:t>
            </a:r>
            <a:endParaRPr kumimoji="1" lang="ja-JP" altLang="en-US" b="1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63C07FA-6446-4C5B-B2D2-A68D31AA8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130" y="3320805"/>
            <a:ext cx="4743099" cy="27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582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1037-E127-9136-78B0-D01C31E0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5E62A1D-4BF5-424A-B70A-C652B25C0AAC}"/>
              </a:ext>
            </a:extLst>
          </p:cNvPr>
          <p:cNvSpPr/>
          <p:nvPr/>
        </p:nvSpPr>
        <p:spPr>
          <a:xfrm>
            <a:off x="1104800" y="1307707"/>
            <a:ext cx="10066283" cy="212129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596BE3-E18B-4CAF-A5DC-AFB3DB5097A5}"/>
              </a:ext>
            </a:extLst>
          </p:cNvPr>
          <p:cNvSpPr txBox="1"/>
          <p:nvPr/>
        </p:nvSpPr>
        <p:spPr>
          <a:xfrm>
            <a:off x="1062858" y="921710"/>
            <a:ext cx="1006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 err="1"/>
              <a:t>s</a:t>
            </a:r>
            <a:r>
              <a:rPr kumimoji="1" lang="en-US" altLang="ja-JP" b="1" dirty="0" err="1"/>
              <a:t>rc</a:t>
            </a:r>
            <a:r>
              <a:rPr kumimoji="1" lang="ja-JP" altLang="en-US" b="1" dirty="0"/>
              <a:t>（ただのフォルダ）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169DA58-9809-4C37-99E1-5C981254DB9F}"/>
              </a:ext>
            </a:extLst>
          </p:cNvPr>
          <p:cNvSpPr/>
          <p:nvPr/>
        </p:nvSpPr>
        <p:spPr>
          <a:xfrm>
            <a:off x="1337177" y="1910080"/>
            <a:ext cx="4556925" cy="131572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EF9EC4-60CA-4632-B4C4-7E1279736AC1}"/>
              </a:ext>
            </a:extLst>
          </p:cNvPr>
          <p:cNvSpPr txBox="1"/>
          <p:nvPr/>
        </p:nvSpPr>
        <p:spPr>
          <a:xfrm>
            <a:off x="1246388" y="1540748"/>
            <a:ext cx="498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main</a:t>
            </a:r>
            <a:r>
              <a:rPr lang="ja-JP" altLang="en-US" b="1" dirty="0"/>
              <a:t>（システム開発用ソースフォルダ）</a:t>
            </a:r>
            <a:endParaRPr kumimoji="1" lang="ja-JP" altLang="en-US" b="1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D59FC97-7560-4DD2-9C4B-1FCE7AA9C422}"/>
              </a:ext>
            </a:extLst>
          </p:cNvPr>
          <p:cNvSpPr/>
          <p:nvPr/>
        </p:nvSpPr>
        <p:spPr>
          <a:xfrm>
            <a:off x="6237588" y="1910080"/>
            <a:ext cx="4556925" cy="131572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865930-95FC-4B2A-AE40-1B4E29223E4F}"/>
              </a:ext>
            </a:extLst>
          </p:cNvPr>
          <p:cNvSpPr txBox="1"/>
          <p:nvPr/>
        </p:nvSpPr>
        <p:spPr>
          <a:xfrm>
            <a:off x="6146799" y="1540748"/>
            <a:ext cx="498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test</a:t>
            </a:r>
            <a:r>
              <a:rPr lang="ja-JP" altLang="en-US" b="1" dirty="0"/>
              <a:t>（テスト用ソースフォルダ）</a:t>
            </a:r>
            <a:endParaRPr kumimoji="1" lang="ja-JP" altLang="en-US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3323399-988A-4927-AF3E-7396D82290BA}"/>
              </a:ext>
            </a:extLst>
          </p:cNvPr>
          <p:cNvSpPr/>
          <p:nvPr/>
        </p:nvSpPr>
        <p:spPr>
          <a:xfrm>
            <a:off x="575178" y="657467"/>
            <a:ext cx="11383142" cy="582461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8A3F76-9EE4-4635-BC8B-24D24F25247F}"/>
              </a:ext>
            </a:extLst>
          </p:cNvPr>
          <p:cNvSpPr txBox="1"/>
          <p:nvPr/>
        </p:nvSpPr>
        <p:spPr>
          <a:xfrm>
            <a:off x="1062858" y="243923"/>
            <a:ext cx="1006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 err="1"/>
              <a:t>MyToDo</a:t>
            </a:r>
            <a:r>
              <a:rPr lang="ja-JP" altLang="en-US" b="1" dirty="0"/>
              <a:t>（プロジェクトルート）</a:t>
            </a:r>
            <a:endParaRPr kumimoji="1" lang="ja-JP" altLang="en-US" b="1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A2DD34E-CCE5-4E63-89F1-1115449EFD8B}"/>
              </a:ext>
            </a:extLst>
          </p:cNvPr>
          <p:cNvSpPr/>
          <p:nvPr/>
        </p:nvSpPr>
        <p:spPr>
          <a:xfrm>
            <a:off x="1113657" y="4106107"/>
            <a:ext cx="3133224" cy="212129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48DEA5-ADD2-4E77-B5B5-7D26A06A5BFE}"/>
              </a:ext>
            </a:extLst>
          </p:cNvPr>
          <p:cNvSpPr txBox="1"/>
          <p:nvPr/>
        </p:nvSpPr>
        <p:spPr>
          <a:xfrm>
            <a:off x="1195589" y="3736775"/>
            <a:ext cx="305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doc</a:t>
            </a:r>
            <a:r>
              <a:rPr lang="ja-JP" altLang="en-US" b="1" dirty="0"/>
              <a:t>（各種ドキュメント）</a:t>
            </a:r>
            <a:endParaRPr kumimoji="1" lang="ja-JP" altLang="en-US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2246EFB-3593-4BD0-96D9-F0764C5C8BC9}"/>
              </a:ext>
            </a:extLst>
          </p:cNvPr>
          <p:cNvSpPr/>
          <p:nvPr/>
        </p:nvSpPr>
        <p:spPr>
          <a:xfrm>
            <a:off x="4558882" y="4623926"/>
            <a:ext cx="3415733" cy="108565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</a:rPr>
              <a:t>README.txt</a:t>
            </a: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(</a:t>
            </a:r>
            <a:r>
              <a:rPr lang="ja-JP" altLang="en-US" b="1" dirty="0">
                <a:solidFill>
                  <a:schemeClr val="tx1"/>
                </a:solidFill>
              </a:rPr>
              <a:t>プロジェクトの説明ファイル</a:t>
            </a:r>
            <a:r>
              <a:rPr lang="en-US" altLang="ja-JP" b="1" dirty="0">
                <a:solidFill>
                  <a:schemeClr val="tx1"/>
                </a:solidFill>
              </a:rPr>
              <a:t>)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8D0F6EF-893A-497A-8222-AB91A01BDF07}"/>
              </a:ext>
            </a:extLst>
          </p:cNvPr>
          <p:cNvSpPr/>
          <p:nvPr/>
        </p:nvSpPr>
        <p:spPr>
          <a:xfrm>
            <a:off x="8201089" y="4623926"/>
            <a:ext cx="3415733" cy="108565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</a:rPr>
              <a:t>LICENSE.txt</a:t>
            </a: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(</a:t>
            </a:r>
            <a:r>
              <a:rPr lang="ja-JP" altLang="en-US" b="1" dirty="0">
                <a:solidFill>
                  <a:schemeClr val="tx1"/>
                </a:solidFill>
              </a:rPr>
              <a:t>プロジェクトのライセンス</a:t>
            </a:r>
            <a:r>
              <a:rPr lang="en-US" altLang="ja-JP" b="1" dirty="0">
                <a:solidFill>
                  <a:schemeClr val="tx1"/>
                </a:solidFill>
              </a:rPr>
              <a:t>)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2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8C4B6-2E15-3A1C-9E84-80D507E7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F4ECE00-B469-4851-93FE-CAD964994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01" y="286239"/>
            <a:ext cx="11418798" cy="628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8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31E0-6846-8CDB-FDBA-5DF25115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6350C54-3158-4B2C-B226-4FD3826B19F3}"/>
              </a:ext>
            </a:extLst>
          </p:cNvPr>
          <p:cNvSpPr/>
          <p:nvPr/>
        </p:nvSpPr>
        <p:spPr>
          <a:xfrm>
            <a:off x="1967097" y="1859280"/>
            <a:ext cx="6028823" cy="199136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07FB2F-24DB-472F-8CE5-FB00717D72E2}"/>
              </a:ext>
            </a:extLst>
          </p:cNvPr>
          <p:cNvSpPr txBox="1"/>
          <p:nvPr/>
        </p:nvSpPr>
        <p:spPr>
          <a:xfrm>
            <a:off x="2490337" y="1489948"/>
            <a:ext cx="498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 err="1"/>
              <a:t>src</a:t>
            </a:r>
            <a:r>
              <a:rPr lang="en-US" altLang="ja-JP" b="1" dirty="0"/>
              <a:t>/main</a:t>
            </a:r>
            <a:r>
              <a:rPr lang="ja-JP" altLang="en-US" b="1" dirty="0"/>
              <a:t>（システム開発用ソースフォルダ）</a:t>
            </a:r>
            <a:endParaRPr kumimoji="1" lang="ja-JP" altLang="en-US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187E3A1-CDF3-4642-A60D-C0765C3D6F6B}"/>
              </a:ext>
            </a:extLst>
          </p:cNvPr>
          <p:cNvSpPr/>
          <p:nvPr/>
        </p:nvSpPr>
        <p:spPr>
          <a:xfrm>
            <a:off x="2200777" y="2228612"/>
            <a:ext cx="5581783" cy="1408668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E21ECB7-B526-4833-BBF2-82DC499B946D}"/>
              </a:ext>
            </a:extLst>
          </p:cNvPr>
          <p:cNvSpPr txBox="1"/>
          <p:nvPr/>
        </p:nvSpPr>
        <p:spPr>
          <a:xfrm>
            <a:off x="2200777" y="2051090"/>
            <a:ext cx="2863983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b="1" dirty="0" err="1"/>
              <a:t>mytodo</a:t>
            </a:r>
            <a:r>
              <a:rPr lang="ja-JP" altLang="en-US" b="1" dirty="0"/>
              <a:t>（パッケージ）</a:t>
            </a:r>
            <a:endParaRPr kumimoji="1" lang="ja-JP" altLang="en-US" b="1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53E2D5F-FC5B-48DD-8928-7A0C53953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97944"/>
            <a:ext cx="5496560" cy="81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2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1C63CCD-69F7-4B37-B512-9AD7D7C6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39" y="994560"/>
            <a:ext cx="1058961" cy="1507418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959753D-E74D-4594-BCA6-3032DE68F853}"/>
              </a:ext>
            </a:extLst>
          </p:cNvPr>
          <p:cNvSpPr/>
          <p:nvPr/>
        </p:nvSpPr>
        <p:spPr>
          <a:xfrm>
            <a:off x="1828800" y="1335642"/>
            <a:ext cx="3097161" cy="1250242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b="1" dirty="0">
                <a:solidFill>
                  <a:schemeClr val="tx1"/>
                </a:solidFill>
              </a:rPr>
              <a:t>タイトルを入力してください：</a:t>
            </a:r>
            <a:endParaRPr lang="en-US" altLang="ja-JP" sz="1600" b="1" dirty="0">
              <a:solidFill>
                <a:schemeClr val="tx1"/>
              </a:solidFill>
            </a:endParaRPr>
          </a:p>
          <a:p>
            <a:r>
              <a:rPr kumimoji="1" lang="en-US" altLang="ja-JP" sz="1600" b="1" dirty="0">
                <a:solidFill>
                  <a:schemeClr val="tx1"/>
                </a:solidFill>
              </a:rPr>
              <a:t>&gt;&gt;</a:t>
            </a:r>
          </a:p>
          <a:p>
            <a:r>
              <a:rPr lang="en-US" altLang="ja-JP" sz="1600" b="1" dirty="0">
                <a:solidFill>
                  <a:schemeClr val="tx1"/>
                </a:solidFill>
              </a:rPr>
              <a:t>…</a:t>
            </a:r>
          </a:p>
          <a:p>
            <a:r>
              <a:rPr kumimoji="1" lang="ja-JP" altLang="en-US" sz="1600" b="1" dirty="0">
                <a:solidFill>
                  <a:schemeClr val="tx1"/>
                </a:solidFill>
              </a:rPr>
              <a:t>タスクを作成しました！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577544-89AB-4694-BE93-8AEA1916A060}"/>
              </a:ext>
            </a:extLst>
          </p:cNvPr>
          <p:cNvSpPr txBox="1"/>
          <p:nvPr/>
        </p:nvSpPr>
        <p:spPr>
          <a:xfrm>
            <a:off x="1371295" y="697598"/>
            <a:ext cx="3658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ConsoleController.java</a:t>
            </a:r>
          </a:p>
          <a:p>
            <a:pPr algn="ctr"/>
            <a:r>
              <a:rPr lang="ja-JP" altLang="en-US" b="1" dirty="0"/>
              <a:t>（新規タスク画面 </a:t>
            </a:r>
            <a:r>
              <a:rPr lang="en-US" altLang="ja-JP" b="1" u="sng" dirty="0" err="1"/>
              <a:t>createTask</a:t>
            </a:r>
            <a:r>
              <a:rPr lang="ja-JP" altLang="en-US" b="1" dirty="0"/>
              <a:t>）</a:t>
            </a:r>
            <a:endParaRPr kumimoji="1" lang="ja-JP" altLang="en-US" b="1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2149DF3-D2F5-46AF-8C76-E1790736D200}"/>
              </a:ext>
            </a:extLst>
          </p:cNvPr>
          <p:cNvSpPr/>
          <p:nvPr/>
        </p:nvSpPr>
        <p:spPr>
          <a:xfrm>
            <a:off x="2074073" y="3674806"/>
            <a:ext cx="2635578" cy="7693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000" b="1" dirty="0">
                <a:solidFill>
                  <a:schemeClr val="tx1"/>
                </a:solidFill>
              </a:rPr>
              <a:t>e</a:t>
            </a:r>
            <a:r>
              <a:rPr kumimoji="1" lang="en-US" altLang="ja-JP" sz="2000" b="1" dirty="0">
                <a:solidFill>
                  <a:schemeClr val="tx1"/>
                </a:solidFill>
              </a:rPr>
              <a:t>xecute</a:t>
            </a:r>
            <a:r>
              <a:rPr kumimoji="1" lang="ja-JP" altLang="en-US" sz="2000" b="1" dirty="0">
                <a:solidFill>
                  <a:schemeClr val="tx1"/>
                </a:solidFill>
              </a:rPr>
              <a:t>（抽象）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344DC0-998E-45F2-B6B8-D06AFFCFCD86}"/>
              </a:ext>
            </a:extLst>
          </p:cNvPr>
          <p:cNvSpPr/>
          <p:nvPr/>
        </p:nvSpPr>
        <p:spPr>
          <a:xfrm>
            <a:off x="2304865" y="3305474"/>
            <a:ext cx="2173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b="1" i="1" dirty="0" err="1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CreateTaskUseCase</a:t>
            </a:r>
            <a:endParaRPr lang="ja-JP" altLang="en-US" b="1" i="1" dirty="0"/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A76783C2-A3E1-42D0-8930-C25780AD8726}"/>
              </a:ext>
            </a:extLst>
          </p:cNvPr>
          <p:cNvSpPr/>
          <p:nvPr/>
        </p:nvSpPr>
        <p:spPr>
          <a:xfrm>
            <a:off x="3092151" y="2657878"/>
            <a:ext cx="255638" cy="53817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BE9B68D-FA7F-474D-A933-D9A9A2FB9C3B}"/>
              </a:ext>
            </a:extLst>
          </p:cNvPr>
          <p:cNvSpPr/>
          <p:nvPr/>
        </p:nvSpPr>
        <p:spPr>
          <a:xfrm>
            <a:off x="97259" y="2795148"/>
            <a:ext cx="2975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これを利用して</a:t>
            </a:r>
            <a:r>
              <a:rPr lang="en-US" altLang="ja-JP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UI</a:t>
            </a:r>
            <a:r>
              <a:rPr lang="ja-JP" altLang="en-US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作成した</a:t>
            </a:r>
            <a:endParaRPr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20576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角形 4">
            <a:extLst>
              <a:ext uri="{FF2B5EF4-FFF2-40B4-BE49-F238E27FC236}">
                <a16:creationId xmlns:a16="http://schemas.microsoft.com/office/drawing/2014/main" id="{C45D982C-13AD-440A-8ADA-8FCD771E7DB1}"/>
              </a:ext>
            </a:extLst>
          </p:cNvPr>
          <p:cNvSpPr/>
          <p:nvPr/>
        </p:nvSpPr>
        <p:spPr>
          <a:xfrm>
            <a:off x="6110900" y="3274534"/>
            <a:ext cx="2813323" cy="2138365"/>
          </a:xfrm>
          <a:prstGeom prst="hexagon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E4FB814-CC0C-42CA-8ABA-D6FAC0AAFDDD}"/>
              </a:ext>
            </a:extLst>
          </p:cNvPr>
          <p:cNvSpPr/>
          <p:nvPr/>
        </p:nvSpPr>
        <p:spPr>
          <a:xfrm>
            <a:off x="6790648" y="4716831"/>
            <a:ext cx="1453823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Task</a:t>
            </a:r>
            <a:endParaRPr kumimoji="1" lang="ja-JP" altLang="en-US" b="1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FA597F2-774F-40D1-AF41-8A403147EF51}"/>
              </a:ext>
            </a:extLst>
          </p:cNvPr>
          <p:cNvSpPr/>
          <p:nvPr/>
        </p:nvSpPr>
        <p:spPr>
          <a:xfrm>
            <a:off x="6539254" y="3588817"/>
            <a:ext cx="1956612" cy="39592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 err="1"/>
              <a:t>TaskRepository</a:t>
            </a:r>
            <a:endParaRPr kumimoji="1" lang="ja-JP" altLang="en-US" b="1" i="1" dirty="0"/>
          </a:p>
        </p:txBody>
      </p:sp>
      <p:sp>
        <p:nvSpPr>
          <p:cNvPr id="8" name="六角形 7">
            <a:extLst>
              <a:ext uri="{FF2B5EF4-FFF2-40B4-BE49-F238E27FC236}">
                <a16:creationId xmlns:a16="http://schemas.microsoft.com/office/drawing/2014/main" id="{36D8CDD6-883C-433F-A466-7E9C68B571AB}"/>
              </a:ext>
            </a:extLst>
          </p:cNvPr>
          <p:cNvSpPr/>
          <p:nvPr/>
        </p:nvSpPr>
        <p:spPr>
          <a:xfrm>
            <a:off x="3340939" y="1949220"/>
            <a:ext cx="6023728" cy="3582185"/>
          </a:xfrm>
          <a:prstGeom prst="hexagon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9A65F0A-494A-487E-8B43-8A3A46DC815C}"/>
              </a:ext>
            </a:extLst>
          </p:cNvPr>
          <p:cNvSpPr/>
          <p:nvPr/>
        </p:nvSpPr>
        <p:spPr>
          <a:xfrm>
            <a:off x="4286034" y="3508687"/>
            <a:ext cx="1509834" cy="556182"/>
          </a:xfrm>
          <a:prstGeom prst="rect">
            <a:avLst/>
          </a:prstGeom>
          <a:solidFill>
            <a:srgbClr val="FF9999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CreateTaskService</a:t>
            </a:r>
            <a:endParaRPr kumimoji="1" lang="ja-JP" altLang="en-US" b="1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A6DA99C-C1B7-4C51-A2BF-754129DA1A8B}"/>
              </a:ext>
            </a:extLst>
          </p:cNvPr>
          <p:cNvSpPr/>
          <p:nvPr/>
        </p:nvSpPr>
        <p:spPr>
          <a:xfrm>
            <a:off x="4177101" y="4602955"/>
            <a:ext cx="1618767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CreateTaskCommand</a:t>
            </a:r>
            <a:endParaRPr kumimoji="1" lang="ja-JP" altLang="en-US" b="1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15287B7-AB6A-47F6-B2E5-6AC2C68F384E}"/>
              </a:ext>
            </a:extLst>
          </p:cNvPr>
          <p:cNvSpPr/>
          <p:nvPr/>
        </p:nvSpPr>
        <p:spPr>
          <a:xfrm>
            <a:off x="4726247" y="2180886"/>
            <a:ext cx="2917018" cy="45647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 err="1"/>
              <a:t>CreateTaskUseCase</a:t>
            </a:r>
            <a:endParaRPr kumimoji="1" lang="ja-JP" altLang="en-US" b="1" i="1" dirty="0"/>
          </a:p>
        </p:txBody>
      </p:sp>
      <p:sp>
        <p:nvSpPr>
          <p:cNvPr id="12" name="六角形 11">
            <a:extLst>
              <a:ext uri="{FF2B5EF4-FFF2-40B4-BE49-F238E27FC236}">
                <a16:creationId xmlns:a16="http://schemas.microsoft.com/office/drawing/2014/main" id="{D1998F8C-C7B8-4A8C-81BD-3855E6AAB133}"/>
              </a:ext>
            </a:extLst>
          </p:cNvPr>
          <p:cNvSpPr/>
          <p:nvPr/>
        </p:nvSpPr>
        <p:spPr>
          <a:xfrm>
            <a:off x="1785517" y="516346"/>
            <a:ext cx="9266549" cy="5287704"/>
          </a:xfrm>
          <a:prstGeom prst="hexagon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F9E7388-D35B-4C17-938B-35B9EE367782}"/>
              </a:ext>
            </a:extLst>
          </p:cNvPr>
          <p:cNvSpPr/>
          <p:nvPr/>
        </p:nvSpPr>
        <p:spPr>
          <a:xfrm>
            <a:off x="3318795" y="725166"/>
            <a:ext cx="2367621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ConsoleController</a:t>
            </a:r>
            <a:endParaRPr kumimoji="1" lang="ja-JP" altLang="en-US" b="1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CF0A61C-A6B0-49F3-BC98-6AFCF8559FD6}"/>
              </a:ext>
            </a:extLst>
          </p:cNvPr>
          <p:cNvSpPr/>
          <p:nvPr/>
        </p:nvSpPr>
        <p:spPr>
          <a:xfrm>
            <a:off x="7157259" y="1012742"/>
            <a:ext cx="2677213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b="1" dirty="0" err="1"/>
              <a:t>SQLiteTaskRepository</a:t>
            </a:r>
            <a:endParaRPr kumimoji="1" lang="ja-JP" altLang="en-US" b="1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5923AD3-B316-4BFF-9A3C-50DD170D8C9E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flipV="1">
            <a:off x="5040951" y="2637357"/>
            <a:ext cx="1143805" cy="87133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C085737-713C-4EFB-A9D7-BD000A890EB2}"/>
              </a:ext>
            </a:extLst>
          </p:cNvPr>
          <p:cNvSpPr txBox="1"/>
          <p:nvPr/>
        </p:nvSpPr>
        <p:spPr>
          <a:xfrm>
            <a:off x="4585516" y="2837522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実現</a:t>
            </a:r>
            <a:endParaRPr kumimoji="1" lang="ja-JP" altLang="en-US" sz="2400" b="1" dirty="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06CA16A-AAA4-4FA5-A6DF-25195567CDCA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4986485" y="4064869"/>
            <a:ext cx="54466" cy="5380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750D226-8456-473E-86CF-3A844190F03A}"/>
              </a:ext>
            </a:extLst>
          </p:cNvPr>
          <p:cNvSpPr txBox="1"/>
          <p:nvPr/>
        </p:nvSpPr>
        <p:spPr>
          <a:xfrm>
            <a:off x="3916536" y="4099477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依存</a:t>
            </a:r>
            <a:endParaRPr kumimoji="1" lang="ja-JP" altLang="en-US" sz="2400" b="1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AF7D0DB0-995B-4960-860D-3DF96CC590BF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5795868" y="3786778"/>
            <a:ext cx="74338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365162C-D093-4A5A-A0BA-1F5DC1A00831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>
            <a:off x="4502606" y="1281348"/>
            <a:ext cx="1682150" cy="8995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ABB387D-6E94-4A78-B2F7-D1C070B5A66E}"/>
              </a:ext>
            </a:extLst>
          </p:cNvPr>
          <p:cNvSpPr txBox="1"/>
          <p:nvPr/>
        </p:nvSpPr>
        <p:spPr>
          <a:xfrm>
            <a:off x="6865817" y="4073851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依存</a:t>
            </a:r>
            <a:endParaRPr kumimoji="1" lang="ja-JP" altLang="en-US" sz="2400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11EC5E7-6B17-4D32-A9CE-EB753C16DB3A}"/>
              </a:ext>
            </a:extLst>
          </p:cNvPr>
          <p:cNvSpPr txBox="1"/>
          <p:nvPr/>
        </p:nvSpPr>
        <p:spPr>
          <a:xfrm>
            <a:off x="3996074" y="1405594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依存</a:t>
            </a:r>
            <a:endParaRPr kumimoji="1" lang="ja-JP" altLang="en-US" sz="2400" b="1" dirty="0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27309D3-0072-4E93-9DB4-5843CE9BC66E}"/>
              </a:ext>
            </a:extLst>
          </p:cNvPr>
          <p:cNvCxnSpPr>
            <a:cxnSpLocks/>
            <a:stCxn id="9" idx="3"/>
            <a:endCxn id="6" idx="0"/>
          </p:cNvCxnSpPr>
          <p:nvPr/>
        </p:nvCxnSpPr>
        <p:spPr>
          <a:xfrm>
            <a:off x="5795868" y="3786778"/>
            <a:ext cx="1721692" cy="9300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500EAD4-4142-4052-89E7-A7CED59C11E7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 flipH="1">
            <a:off x="7517560" y="1568924"/>
            <a:ext cx="978306" cy="201989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5ADA766-7C7F-402A-86E7-CD554DE3B230}"/>
              </a:ext>
            </a:extLst>
          </p:cNvPr>
          <p:cNvSpPr txBox="1"/>
          <p:nvPr/>
        </p:nvSpPr>
        <p:spPr>
          <a:xfrm>
            <a:off x="7848471" y="2578870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実現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9211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30E3BA4-A56A-4D7E-A1F7-DC3063999590}"/>
              </a:ext>
            </a:extLst>
          </p:cNvPr>
          <p:cNvSpPr/>
          <p:nvPr/>
        </p:nvSpPr>
        <p:spPr>
          <a:xfrm>
            <a:off x="6787024" y="529713"/>
            <a:ext cx="2671608" cy="2233152"/>
          </a:xfrm>
          <a:prstGeom prst="rect">
            <a:avLst/>
          </a:prstGeom>
          <a:solidFill>
            <a:srgbClr val="FF9999">
              <a:alpha val="18039"/>
            </a:srgb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EB30AFD-40B9-41D2-BBB6-E7EF4BA1CB3F}"/>
              </a:ext>
            </a:extLst>
          </p:cNvPr>
          <p:cNvSpPr/>
          <p:nvPr/>
        </p:nvSpPr>
        <p:spPr>
          <a:xfrm>
            <a:off x="1819375" y="1368519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テストケース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8B04D13-3CB9-4418-A778-D2ACD7A7A672}"/>
              </a:ext>
            </a:extLst>
          </p:cNvPr>
          <p:cNvSpPr/>
          <p:nvPr/>
        </p:nvSpPr>
        <p:spPr>
          <a:xfrm>
            <a:off x="4233195" y="1368519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対象クラス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C2F1FA7-59A5-4CD9-8BC5-7793E43947E3}"/>
              </a:ext>
            </a:extLst>
          </p:cNvPr>
          <p:cNvSpPr/>
          <p:nvPr/>
        </p:nvSpPr>
        <p:spPr>
          <a:xfrm>
            <a:off x="6971480" y="631100"/>
            <a:ext cx="2305256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依存コンポーネント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B581D06-F9FC-4ACB-926D-043E5991CD95}"/>
              </a:ext>
            </a:extLst>
          </p:cNvPr>
          <p:cNvSpPr/>
          <p:nvPr/>
        </p:nvSpPr>
        <p:spPr>
          <a:xfrm>
            <a:off x="6971480" y="1368519"/>
            <a:ext cx="2305256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依存コンポーネント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B692977-7776-4455-B651-49A9AF88E606}"/>
              </a:ext>
            </a:extLst>
          </p:cNvPr>
          <p:cNvSpPr/>
          <p:nvPr/>
        </p:nvSpPr>
        <p:spPr>
          <a:xfrm>
            <a:off x="6971480" y="2105938"/>
            <a:ext cx="2305256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依存コンポーネント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9412F031-18C5-48A1-A608-ED9D65E3A1A3}"/>
              </a:ext>
            </a:extLst>
          </p:cNvPr>
          <p:cNvSpPr/>
          <p:nvPr/>
        </p:nvSpPr>
        <p:spPr>
          <a:xfrm>
            <a:off x="3544530" y="1504335"/>
            <a:ext cx="894735" cy="294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BD340068-F89B-4FA4-A9E8-984537529E4F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096000" y="909191"/>
            <a:ext cx="875480" cy="737419"/>
          </a:xfrm>
          <a:prstGeom prst="curvedConnector3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AA994146-9473-46D3-ADF9-1D5B23A65877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6096000" y="1646610"/>
            <a:ext cx="875480" cy="737419"/>
          </a:xfrm>
          <a:prstGeom prst="curvedConnector3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曲線 17">
            <a:extLst>
              <a:ext uri="{FF2B5EF4-FFF2-40B4-BE49-F238E27FC236}">
                <a16:creationId xmlns:a16="http://schemas.microsoft.com/office/drawing/2014/main" id="{D9E72846-3A9E-4F4A-9852-65EDE9B15352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096000" y="1646610"/>
            <a:ext cx="875480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0FA6D3F-2DF5-4D1C-90C5-6F01EE2E10CF}"/>
              </a:ext>
            </a:extLst>
          </p:cNvPr>
          <p:cNvSpPr txBox="1"/>
          <p:nvPr/>
        </p:nvSpPr>
        <p:spPr>
          <a:xfrm>
            <a:off x="1240196" y="2037683"/>
            <a:ext cx="5376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テストしたくても</a:t>
            </a:r>
            <a:endParaRPr lang="en-US" altLang="ja-JP" b="1" dirty="0"/>
          </a:p>
          <a:p>
            <a:pPr algn="ctr"/>
            <a:r>
              <a:rPr lang="ja-JP" altLang="en-US" b="1" dirty="0"/>
              <a:t>依存するクラスができてないとテストできない！</a:t>
            </a:r>
            <a:endParaRPr kumimoji="1" lang="ja-JP" altLang="en-US" b="1" dirty="0"/>
          </a:p>
        </p:txBody>
      </p:sp>
      <p:sp>
        <p:nvSpPr>
          <p:cNvPr id="22" name="十字形 21">
            <a:extLst>
              <a:ext uri="{FF2B5EF4-FFF2-40B4-BE49-F238E27FC236}">
                <a16:creationId xmlns:a16="http://schemas.microsoft.com/office/drawing/2014/main" id="{DD28F518-18B0-4E2E-9D6C-AD9AC86579BB}"/>
              </a:ext>
            </a:extLst>
          </p:cNvPr>
          <p:cNvSpPr/>
          <p:nvPr/>
        </p:nvSpPr>
        <p:spPr>
          <a:xfrm rot="18970883">
            <a:off x="3744875" y="1433442"/>
            <a:ext cx="392883" cy="412710"/>
          </a:xfrm>
          <a:prstGeom prst="plus">
            <a:avLst>
              <a:gd name="adj" fmla="val 4138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7100BFF-AD4A-4658-A96D-26E33F62D71D}"/>
              </a:ext>
            </a:extLst>
          </p:cNvPr>
          <p:cNvSpPr txBox="1"/>
          <p:nvPr/>
        </p:nvSpPr>
        <p:spPr>
          <a:xfrm>
            <a:off x="2412091" y="331115"/>
            <a:ext cx="4367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テストの対象となるクラスが依存する</a:t>
            </a:r>
            <a:endParaRPr lang="en-US" altLang="ja-JP" b="1" dirty="0"/>
          </a:p>
          <a:p>
            <a:pPr algn="ctr"/>
            <a:r>
              <a:rPr lang="ja-JP" altLang="en-US" b="1" dirty="0"/>
              <a:t>コンポーネント（クラス等）が未完成</a:t>
            </a:r>
            <a:endParaRPr kumimoji="1" lang="ja-JP" altLang="en-US" dirty="0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8BFEF1DA-D64D-456C-9585-89936849EBE1}"/>
              </a:ext>
            </a:extLst>
          </p:cNvPr>
          <p:cNvSpPr/>
          <p:nvPr/>
        </p:nvSpPr>
        <p:spPr>
          <a:xfrm rot="1071835">
            <a:off x="6553048" y="645769"/>
            <a:ext cx="307360" cy="147484"/>
          </a:xfrm>
          <a:prstGeom prst="rightArrow">
            <a:avLst/>
          </a:prstGeom>
          <a:solidFill>
            <a:srgbClr val="FF99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0307F38-BFFE-4FBB-8259-135B0CD43CD1}"/>
              </a:ext>
            </a:extLst>
          </p:cNvPr>
          <p:cNvSpPr/>
          <p:nvPr/>
        </p:nvSpPr>
        <p:spPr>
          <a:xfrm>
            <a:off x="6787024" y="3644841"/>
            <a:ext cx="2671608" cy="2233152"/>
          </a:xfrm>
          <a:prstGeom prst="rect">
            <a:avLst/>
          </a:prstGeom>
          <a:solidFill>
            <a:srgbClr val="FF9999">
              <a:alpha val="18039"/>
            </a:srgb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F8A7AE6-C679-425A-ABDE-4B16A64AF7A9}"/>
              </a:ext>
            </a:extLst>
          </p:cNvPr>
          <p:cNvSpPr/>
          <p:nvPr/>
        </p:nvSpPr>
        <p:spPr>
          <a:xfrm>
            <a:off x="1819375" y="4483647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テストケース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5E77F57-EE8C-4A20-9C96-F8C0A1CFB186}"/>
              </a:ext>
            </a:extLst>
          </p:cNvPr>
          <p:cNvSpPr/>
          <p:nvPr/>
        </p:nvSpPr>
        <p:spPr>
          <a:xfrm>
            <a:off x="4233195" y="4483647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対象クラス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58128CF-5B74-4EED-AD4C-0D695D6C120D}"/>
              </a:ext>
            </a:extLst>
          </p:cNvPr>
          <p:cNvSpPr/>
          <p:nvPr/>
        </p:nvSpPr>
        <p:spPr>
          <a:xfrm>
            <a:off x="6971480" y="3746228"/>
            <a:ext cx="2305256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テストダブル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7FC5EF2-5156-433D-A680-D98C227AA8C2}"/>
              </a:ext>
            </a:extLst>
          </p:cNvPr>
          <p:cNvSpPr/>
          <p:nvPr/>
        </p:nvSpPr>
        <p:spPr>
          <a:xfrm>
            <a:off x="6971480" y="4483647"/>
            <a:ext cx="2305256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テストダブル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46CB20B-B8E2-40AA-8BD0-EEF936BEE66A}"/>
              </a:ext>
            </a:extLst>
          </p:cNvPr>
          <p:cNvSpPr/>
          <p:nvPr/>
        </p:nvSpPr>
        <p:spPr>
          <a:xfrm>
            <a:off x="6971480" y="5221066"/>
            <a:ext cx="2305256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テストダブル</a:t>
            </a:r>
            <a:endParaRPr kumimoji="1" lang="ja-JP" altLang="en-US" b="1" dirty="0"/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F2DE4473-75B5-4147-8710-F5A9EE577291}"/>
              </a:ext>
            </a:extLst>
          </p:cNvPr>
          <p:cNvSpPr/>
          <p:nvPr/>
        </p:nvSpPr>
        <p:spPr>
          <a:xfrm>
            <a:off x="3544530" y="4619463"/>
            <a:ext cx="894735" cy="294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コネクタ: 曲線 39">
            <a:extLst>
              <a:ext uri="{FF2B5EF4-FFF2-40B4-BE49-F238E27FC236}">
                <a16:creationId xmlns:a16="http://schemas.microsoft.com/office/drawing/2014/main" id="{8D70DE97-F9CD-4AAA-B396-9CDF28B5EB2C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 flipV="1">
            <a:off x="6096000" y="4024319"/>
            <a:ext cx="875480" cy="737419"/>
          </a:xfrm>
          <a:prstGeom prst="curvedConnector3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コネクタ: 曲線 40">
            <a:extLst>
              <a:ext uri="{FF2B5EF4-FFF2-40B4-BE49-F238E27FC236}">
                <a16:creationId xmlns:a16="http://schemas.microsoft.com/office/drawing/2014/main" id="{70C39DD5-F7C4-4F09-A738-44563AD2185E}"/>
              </a:ext>
            </a:extLst>
          </p:cNvPr>
          <p:cNvCxnSpPr>
            <a:cxnSpLocks/>
            <a:stCxn id="35" idx="3"/>
            <a:endCxn id="38" idx="1"/>
          </p:cNvCxnSpPr>
          <p:nvPr/>
        </p:nvCxnSpPr>
        <p:spPr>
          <a:xfrm>
            <a:off x="6096000" y="4761738"/>
            <a:ext cx="875480" cy="737419"/>
          </a:xfrm>
          <a:prstGeom prst="curvedConnector3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5CB69B-41D6-4985-9705-AC213A0651F3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6096000" y="4761738"/>
            <a:ext cx="875480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2A0231B-B94D-45E9-A3D0-241D3011004A}"/>
              </a:ext>
            </a:extLst>
          </p:cNvPr>
          <p:cNvSpPr txBox="1"/>
          <p:nvPr/>
        </p:nvSpPr>
        <p:spPr>
          <a:xfrm>
            <a:off x="1240196" y="5152811"/>
            <a:ext cx="537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代役を使ってテストできる！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E6321A7F-0591-409A-803F-4C83F6D96B15}"/>
              </a:ext>
            </a:extLst>
          </p:cNvPr>
          <p:cNvSpPr txBox="1"/>
          <p:nvPr/>
        </p:nvSpPr>
        <p:spPr>
          <a:xfrm>
            <a:off x="2035278" y="3446243"/>
            <a:ext cx="4744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依存するコンポーネントを</a:t>
            </a:r>
            <a:endParaRPr lang="en-US" altLang="ja-JP" b="1" dirty="0"/>
          </a:p>
          <a:p>
            <a:pPr algn="ctr"/>
            <a:r>
              <a:rPr lang="ja-JP" altLang="en-US" b="1" dirty="0"/>
              <a:t>テストダブル</a:t>
            </a:r>
            <a:r>
              <a:rPr lang="en-US" altLang="ja-JP" b="1" dirty="0"/>
              <a:t>(</a:t>
            </a:r>
            <a:r>
              <a:rPr lang="ja-JP" altLang="en-US" b="1" dirty="0"/>
              <a:t>テスト用の代役</a:t>
            </a:r>
            <a:r>
              <a:rPr lang="en-US" altLang="ja-JP" b="1" dirty="0"/>
              <a:t>)</a:t>
            </a:r>
            <a:r>
              <a:rPr lang="ja-JP" altLang="en-US" b="1" dirty="0"/>
              <a:t>で差し替え</a:t>
            </a:r>
            <a:endParaRPr kumimoji="1" lang="ja-JP" altLang="en-US" dirty="0"/>
          </a:p>
        </p:txBody>
      </p:sp>
      <p:sp>
        <p:nvSpPr>
          <p:cNvPr id="46" name="矢印: 右 45">
            <a:extLst>
              <a:ext uri="{FF2B5EF4-FFF2-40B4-BE49-F238E27FC236}">
                <a16:creationId xmlns:a16="http://schemas.microsoft.com/office/drawing/2014/main" id="{E5C75128-2E20-4954-A219-66CB91158A4C}"/>
              </a:ext>
            </a:extLst>
          </p:cNvPr>
          <p:cNvSpPr/>
          <p:nvPr/>
        </p:nvSpPr>
        <p:spPr>
          <a:xfrm rot="1071835">
            <a:off x="6553048" y="3760897"/>
            <a:ext cx="307360" cy="147484"/>
          </a:xfrm>
          <a:prstGeom prst="rightArrow">
            <a:avLst/>
          </a:prstGeom>
          <a:solidFill>
            <a:srgbClr val="FF99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円: 塗りつぶしなし 46">
            <a:extLst>
              <a:ext uri="{FF2B5EF4-FFF2-40B4-BE49-F238E27FC236}">
                <a16:creationId xmlns:a16="http://schemas.microsoft.com/office/drawing/2014/main" id="{F3EDE6E0-659B-4E9D-A137-337E9835BBCF}"/>
              </a:ext>
            </a:extLst>
          </p:cNvPr>
          <p:cNvSpPr/>
          <p:nvPr/>
        </p:nvSpPr>
        <p:spPr>
          <a:xfrm>
            <a:off x="3730331" y="4162268"/>
            <a:ext cx="466513" cy="477584"/>
          </a:xfrm>
          <a:prstGeom prst="donut">
            <a:avLst>
              <a:gd name="adj" fmla="val 1689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03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135D8FB-DFCB-4DD4-833D-95B27002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94" y="323275"/>
            <a:ext cx="8224217" cy="247519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0669A71-1513-4D14-BF07-73E8A18FC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93" y="3544521"/>
            <a:ext cx="8224217" cy="24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91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FFBF705-5BF7-43AE-AA5C-41FF8EBB4134}"/>
              </a:ext>
            </a:extLst>
          </p:cNvPr>
          <p:cNvSpPr/>
          <p:nvPr/>
        </p:nvSpPr>
        <p:spPr>
          <a:xfrm>
            <a:off x="7771273" y="1444762"/>
            <a:ext cx="2300342" cy="491476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SQLiteRepository</a:t>
            </a:r>
            <a:endParaRPr kumimoji="1" lang="ja-JP" altLang="en-US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6E9BFE6-F0F0-45A7-A7B6-F2BA863D1E20}"/>
              </a:ext>
            </a:extLst>
          </p:cNvPr>
          <p:cNvSpPr txBox="1"/>
          <p:nvPr/>
        </p:nvSpPr>
        <p:spPr>
          <a:xfrm>
            <a:off x="7251406" y="1075430"/>
            <a:ext cx="3340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Implements </a:t>
            </a:r>
            <a:r>
              <a:rPr kumimoji="1" lang="en-US" altLang="ja-JP" b="1" dirty="0" err="1"/>
              <a:t>TaskRepository</a:t>
            </a:r>
            <a:endParaRPr kumimoji="1" lang="ja-JP" altLang="en-US" b="1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4382595-784E-4FEE-BC1A-5D25961644E8}"/>
              </a:ext>
            </a:extLst>
          </p:cNvPr>
          <p:cNvSpPr/>
          <p:nvPr/>
        </p:nvSpPr>
        <p:spPr>
          <a:xfrm>
            <a:off x="2185887" y="1331833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対象クラス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789A844-789A-4A39-AD8C-B0BAF5C13508}"/>
              </a:ext>
            </a:extLst>
          </p:cNvPr>
          <p:cNvSpPr txBox="1"/>
          <p:nvPr/>
        </p:nvSpPr>
        <p:spPr>
          <a:xfrm>
            <a:off x="1614280" y="937074"/>
            <a:ext cx="308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r = new </a:t>
            </a:r>
            <a:r>
              <a:rPr lang="en-US" altLang="ja-JP" b="1" dirty="0" err="1"/>
              <a:t>SQLiteRepository</a:t>
            </a:r>
            <a:endParaRPr lang="ja-JP" altLang="en-US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5B3E271-4748-48CF-A3DE-E9D9594C213D}"/>
              </a:ext>
            </a:extLst>
          </p:cNvPr>
          <p:cNvSpPr txBox="1"/>
          <p:nvPr/>
        </p:nvSpPr>
        <p:spPr>
          <a:xfrm>
            <a:off x="5003345" y="997120"/>
            <a:ext cx="1632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err="1"/>
              <a:t>r.findById</a:t>
            </a:r>
            <a:r>
              <a:rPr lang="en-US" altLang="ja-JP" b="1" dirty="0"/>
              <a:t>(1)</a:t>
            </a:r>
            <a:endParaRPr lang="ja-JP" altLang="en-US" b="1" dirty="0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2BF52A01-A1E8-4E59-B27B-C7299AA72771}"/>
              </a:ext>
            </a:extLst>
          </p:cNvPr>
          <p:cNvSpPr/>
          <p:nvPr/>
        </p:nvSpPr>
        <p:spPr>
          <a:xfrm>
            <a:off x="4196234" y="1327560"/>
            <a:ext cx="3008671" cy="1866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A7D769B1-79CF-4CAC-B8FC-03ABE018D71C}"/>
              </a:ext>
            </a:extLst>
          </p:cNvPr>
          <p:cNvSpPr/>
          <p:nvPr/>
        </p:nvSpPr>
        <p:spPr>
          <a:xfrm rot="10800000">
            <a:off x="4196234" y="1697047"/>
            <a:ext cx="3008671" cy="1866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150E484E-3CDE-4530-91B0-55AA9585A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7042"/>
              </p:ext>
            </p:extLst>
          </p:nvPr>
        </p:nvGraphicFramePr>
        <p:xfrm>
          <a:off x="4447441" y="1925689"/>
          <a:ext cx="2744658" cy="76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886">
                  <a:extLst>
                    <a:ext uri="{9D8B030D-6E8A-4147-A177-3AD203B41FA5}">
                      <a16:colId xmlns:a16="http://schemas.microsoft.com/office/drawing/2014/main" val="1620547630"/>
                    </a:ext>
                  </a:extLst>
                </a:gridCol>
                <a:gridCol w="914886">
                  <a:extLst>
                    <a:ext uri="{9D8B030D-6E8A-4147-A177-3AD203B41FA5}">
                      <a16:colId xmlns:a16="http://schemas.microsoft.com/office/drawing/2014/main" val="1166920755"/>
                    </a:ext>
                  </a:extLst>
                </a:gridCol>
                <a:gridCol w="914886">
                  <a:extLst>
                    <a:ext uri="{9D8B030D-6E8A-4147-A177-3AD203B41FA5}">
                      <a16:colId xmlns:a16="http://schemas.microsoft.com/office/drawing/2014/main" val="2514168550"/>
                    </a:ext>
                  </a:extLst>
                </a:gridCol>
              </a:tblGrid>
              <a:tr h="383456"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ID</a:t>
                      </a:r>
                      <a:endParaRPr kumimoji="1" lang="ja-JP" alt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Title</a:t>
                      </a:r>
                      <a:endParaRPr kumimoji="1" lang="ja-JP" alt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Status</a:t>
                      </a:r>
                      <a:endParaRPr kumimoji="1" lang="ja-JP" alt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78481"/>
                  </a:ext>
                </a:extLst>
              </a:tr>
              <a:tr h="383456"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1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Task1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TODO</a:t>
                      </a:r>
                      <a:endParaRPr kumimoji="1" lang="ja-JP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435887"/>
                  </a:ext>
                </a:extLst>
              </a:tr>
            </a:tbl>
          </a:graphicData>
        </a:graphic>
      </p:graphicFrame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3313B21-8C01-4FE2-A0F1-5BC94A6284F7}"/>
              </a:ext>
            </a:extLst>
          </p:cNvPr>
          <p:cNvSpPr/>
          <p:nvPr/>
        </p:nvSpPr>
        <p:spPr>
          <a:xfrm>
            <a:off x="7771273" y="4296571"/>
            <a:ext cx="2300342" cy="4389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Test Spy</a:t>
            </a:r>
            <a:endParaRPr kumimoji="1" lang="ja-JP" altLang="en-US" b="1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9BC2787-389B-413E-8AC6-0940177CE071}"/>
              </a:ext>
            </a:extLst>
          </p:cNvPr>
          <p:cNvSpPr txBox="1"/>
          <p:nvPr/>
        </p:nvSpPr>
        <p:spPr>
          <a:xfrm>
            <a:off x="7251406" y="3927239"/>
            <a:ext cx="3340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Implements </a:t>
            </a:r>
            <a:r>
              <a:rPr kumimoji="1" lang="en-US" altLang="ja-JP" b="1" dirty="0" err="1"/>
              <a:t>TaskRepository</a:t>
            </a:r>
            <a:endParaRPr kumimoji="1" lang="ja-JP" altLang="en-US" b="1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DDBC70C-A4F6-4DFB-97AD-65BDCC69EE0C}"/>
              </a:ext>
            </a:extLst>
          </p:cNvPr>
          <p:cNvSpPr/>
          <p:nvPr/>
        </p:nvSpPr>
        <p:spPr>
          <a:xfrm>
            <a:off x="2185887" y="4183642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対象クラス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66C74D9-1BCA-48B2-972E-496C84D10F43}"/>
              </a:ext>
            </a:extLst>
          </p:cNvPr>
          <p:cNvSpPr txBox="1"/>
          <p:nvPr/>
        </p:nvSpPr>
        <p:spPr>
          <a:xfrm>
            <a:off x="1614280" y="3788883"/>
            <a:ext cx="308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r = new </a:t>
            </a:r>
            <a:r>
              <a:rPr lang="en-US" altLang="ja-JP" b="1" dirty="0" err="1"/>
              <a:t>SQLiteRepository</a:t>
            </a:r>
            <a:endParaRPr lang="ja-JP" altLang="en-US" b="1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662CB31-483E-489B-9A8E-79BAA856744E}"/>
              </a:ext>
            </a:extLst>
          </p:cNvPr>
          <p:cNvSpPr txBox="1"/>
          <p:nvPr/>
        </p:nvSpPr>
        <p:spPr>
          <a:xfrm>
            <a:off x="5003345" y="3848929"/>
            <a:ext cx="1632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err="1"/>
              <a:t>r.findById</a:t>
            </a:r>
            <a:r>
              <a:rPr lang="en-US" altLang="ja-JP" b="1" dirty="0"/>
              <a:t>(1)</a:t>
            </a:r>
            <a:endParaRPr lang="ja-JP" altLang="en-US" b="1" dirty="0"/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1C3BB6EA-9779-4953-B66F-B32C653D95E7}"/>
              </a:ext>
            </a:extLst>
          </p:cNvPr>
          <p:cNvSpPr/>
          <p:nvPr/>
        </p:nvSpPr>
        <p:spPr>
          <a:xfrm>
            <a:off x="4196234" y="4179369"/>
            <a:ext cx="3008671" cy="1866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A285AFAA-F424-4D96-AB85-C7C32ED9816C}"/>
              </a:ext>
            </a:extLst>
          </p:cNvPr>
          <p:cNvSpPr/>
          <p:nvPr/>
        </p:nvSpPr>
        <p:spPr>
          <a:xfrm rot="10800000">
            <a:off x="4196234" y="4548856"/>
            <a:ext cx="3008671" cy="1866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35" name="表 34">
            <a:extLst>
              <a:ext uri="{FF2B5EF4-FFF2-40B4-BE49-F238E27FC236}">
                <a16:creationId xmlns:a16="http://schemas.microsoft.com/office/drawing/2014/main" id="{2C1EB13E-31A8-4BE9-8396-D1E947E4A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7042"/>
              </p:ext>
            </p:extLst>
          </p:nvPr>
        </p:nvGraphicFramePr>
        <p:xfrm>
          <a:off x="4447441" y="4777498"/>
          <a:ext cx="2744658" cy="76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886">
                  <a:extLst>
                    <a:ext uri="{9D8B030D-6E8A-4147-A177-3AD203B41FA5}">
                      <a16:colId xmlns:a16="http://schemas.microsoft.com/office/drawing/2014/main" val="1620547630"/>
                    </a:ext>
                  </a:extLst>
                </a:gridCol>
                <a:gridCol w="914886">
                  <a:extLst>
                    <a:ext uri="{9D8B030D-6E8A-4147-A177-3AD203B41FA5}">
                      <a16:colId xmlns:a16="http://schemas.microsoft.com/office/drawing/2014/main" val="1166920755"/>
                    </a:ext>
                  </a:extLst>
                </a:gridCol>
                <a:gridCol w="914886">
                  <a:extLst>
                    <a:ext uri="{9D8B030D-6E8A-4147-A177-3AD203B41FA5}">
                      <a16:colId xmlns:a16="http://schemas.microsoft.com/office/drawing/2014/main" val="2514168550"/>
                    </a:ext>
                  </a:extLst>
                </a:gridCol>
              </a:tblGrid>
              <a:tr h="383456"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ID</a:t>
                      </a:r>
                      <a:endParaRPr kumimoji="1" lang="ja-JP" alt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Title</a:t>
                      </a:r>
                      <a:endParaRPr kumimoji="1" lang="ja-JP" alt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Status</a:t>
                      </a:r>
                      <a:endParaRPr kumimoji="1" lang="ja-JP" alt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78481"/>
                  </a:ext>
                </a:extLst>
              </a:tr>
              <a:tr h="383456"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1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Task1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TODO</a:t>
                      </a:r>
                      <a:endParaRPr kumimoji="1" lang="ja-JP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435887"/>
                  </a:ext>
                </a:extLst>
              </a:tr>
            </a:tbl>
          </a:graphicData>
        </a:graphic>
      </p:graphicFrame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9088F4D-C824-4FBD-B852-F8B9ECB0E70D}"/>
              </a:ext>
            </a:extLst>
          </p:cNvPr>
          <p:cNvSpPr txBox="1"/>
          <p:nvPr/>
        </p:nvSpPr>
        <p:spPr>
          <a:xfrm>
            <a:off x="7448949" y="4838102"/>
            <a:ext cx="3142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err="1"/>
              <a:t>findById</a:t>
            </a:r>
            <a:r>
              <a:rPr lang="en-US" altLang="ja-JP" b="1" dirty="0"/>
              <a:t>(1)</a:t>
            </a:r>
            <a:r>
              <a:rPr lang="ja-JP" altLang="en-US" b="1" dirty="0"/>
              <a:t>が実行されたら</a:t>
            </a:r>
            <a:endParaRPr lang="en-US" altLang="ja-JP" b="1" dirty="0"/>
          </a:p>
          <a:p>
            <a:r>
              <a:rPr lang="ja-JP" altLang="en-US" b="1" dirty="0"/>
              <a:t>とりあえずこの表を返す</a:t>
            </a:r>
            <a:endParaRPr lang="en-US" altLang="ja-JP" b="1" dirty="0"/>
          </a:p>
          <a:p>
            <a:r>
              <a:rPr lang="ja-JP" altLang="en-US" b="1" dirty="0"/>
              <a:t>対象クラスは引数</a:t>
            </a:r>
            <a:r>
              <a:rPr lang="en-US" altLang="ja-JP" b="1" dirty="0"/>
              <a:t>1</a:t>
            </a:r>
            <a:r>
              <a:rPr lang="ja-JP" altLang="en-US" b="1" dirty="0"/>
              <a:t>で、一度</a:t>
            </a:r>
            <a:r>
              <a:rPr lang="en-US" altLang="ja-JP" b="1" dirty="0" err="1"/>
              <a:t>findById</a:t>
            </a:r>
            <a:r>
              <a:rPr lang="ja-JP" altLang="en-US" b="1" dirty="0"/>
              <a:t>を実行したと記録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188E37-EEA1-4359-93D8-A702CA64F3E6}"/>
              </a:ext>
            </a:extLst>
          </p:cNvPr>
          <p:cNvSpPr txBox="1"/>
          <p:nvPr/>
        </p:nvSpPr>
        <p:spPr>
          <a:xfrm>
            <a:off x="7448949" y="2002503"/>
            <a:ext cx="314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DB</a:t>
            </a:r>
            <a:r>
              <a:rPr lang="ja-JP" altLang="en-US" b="1" dirty="0"/>
              <a:t>の検索を行い</a:t>
            </a:r>
            <a:r>
              <a:rPr lang="en-US" altLang="ja-JP" b="1" dirty="0"/>
              <a:t>ID</a:t>
            </a:r>
            <a:r>
              <a:rPr lang="ja-JP" altLang="en-US" b="1" dirty="0"/>
              <a:t>が</a:t>
            </a:r>
            <a:r>
              <a:rPr lang="en-US" altLang="ja-JP" b="1" dirty="0"/>
              <a:t>1</a:t>
            </a:r>
            <a:r>
              <a:rPr lang="ja-JP" altLang="en-US" b="1" dirty="0"/>
              <a:t>のデータを返す</a:t>
            </a:r>
          </a:p>
        </p:txBody>
      </p:sp>
    </p:spTree>
    <p:extLst>
      <p:ext uri="{BB962C8B-B14F-4D97-AF65-F5344CB8AC3E}">
        <p14:creationId xmlns:p14="http://schemas.microsoft.com/office/powerpoint/2010/main" val="250723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B262C65-BBBD-498F-9F22-E1344784A886}"/>
              </a:ext>
            </a:extLst>
          </p:cNvPr>
          <p:cNvSpPr/>
          <p:nvPr/>
        </p:nvSpPr>
        <p:spPr>
          <a:xfrm>
            <a:off x="1819375" y="1042356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テストケース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8A05F2D-6A29-4511-8BA4-9B27AE1E60F2}"/>
              </a:ext>
            </a:extLst>
          </p:cNvPr>
          <p:cNvSpPr/>
          <p:nvPr/>
        </p:nvSpPr>
        <p:spPr>
          <a:xfrm>
            <a:off x="4233195" y="1042356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対象クラス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7207310-0464-4C9E-9A7F-ABB205FA71F8}"/>
              </a:ext>
            </a:extLst>
          </p:cNvPr>
          <p:cNvSpPr/>
          <p:nvPr/>
        </p:nvSpPr>
        <p:spPr>
          <a:xfrm>
            <a:off x="6971480" y="1042356"/>
            <a:ext cx="1494094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スパイ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CD0284AD-078E-4EFB-9E9D-E2EC68908832}"/>
              </a:ext>
            </a:extLst>
          </p:cNvPr>
          <p:cNvSpPr/>
          <p:nvPr/>
        </p:nvSpPr>
        <p:spPr>
          <a:xfrm>
            <a:off x="3544530" y="1178172"/>
            <a:ext cx="894735" cy="294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4E04E7FF-8430-4005-BF0F-715D83C3B0C8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6096000" y="1320447"/>
            <a:ext cx="875480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14BD5D9-0FE9-4CD5-974B-E0831C9DE6E6}"/>
              </a:ext>
            </a:extLst>
          </p:cNvPr>
          <p:cNvSpPr txBox="1"/>
          <p:nvPr/>
        </p:nvSpPr>
        <p:spPr>
          <a:xfrm>
            <a:off x="2146223" y="673024"/>
            <a:ext cx="369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①対象クラスのメソッド実行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65DC6D1-A13B-4A5B-A792-D78F6DBA4A92}"/>
              </a:ext>
            </a:extLst>
          </p:cNvPr>
          <p:cNvSpPr txBox="1"/>
          <p:nvPr/>
        </p:nvSpPr>
        <p:spPr>
          <a:xfrm>
            <a:off x="5837570" y="673024"/>
            <a:ext cx="369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②依存する部分をスパイが実行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BAE7704-2402-4E41-A21F-6879DB0860B4}"/>
              </a:ext>
            </a:extLst>
          </p:cNvPr>
          <p:cNvSpPr/>
          <p:nvPr/>
        </p:nvSpPr>
        <p:spPr>
          <a:xfrm>
            <a:off x="1881236" y="3346200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テストケース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252A28E-A499-43F1-A3BD-5D064BFEDC29}"/>
              </a:ext>
            </a:extLst>
          </p:cNvPr>
          <p:cNvSpPr/>
          <p:nvPr/>
        </p:nvSpPr>
        <p:spPr>
          <a:xfrm>
            <a:off x="4295056" y="3346200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対象クラス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07A2BA5-F651-490E-9F70-9F883F973DD4}"/>
              </a:ext>
            </a:extLst>
          </p:cNvPr>
          <p:cNvSpPr/>
          <p:nvPr/>
        </p:nvSpPr>
        <p:spPr>
          <a:xfrm>
            <a:off x="7033341" y="3346200"/>
            <a:ext cx="1494094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スパイ</a:t>
            </a:r>
          </a:p>
        </p:txBody>
      </p:sp>
      <p:cxnSp>
        <p:nvCxnSpPr>
          <p:cNvPr id="28" name="コネクタ: 曲線 27">
            <a:extLst>
              <a:ext uri="{FF2B5EF4-FFF2-40B4-BE49-F238E27FC236}">
                <a16:creationId xmlns:a16="http://schemas.microsoft.com/office/drawing/2014/main" id="{C569C5B1-244E-4AB2-9F3D-F409121D90BE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6157861" y="3624291"/>
            <a:ext cx="875480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57EE5B7-B4AA-4C2E-822E-B684328A457D}"/>
              </a:ext>
            </a:extLst>
          </p:cNvPr>
          <p:cNvSpPr txBox="1"/>
          <p:nvPr/>
        </p:nvSpPr>
        <p:spPr>
          <a:xfrm>
            <a:off x="3326375" y="2497068"/>
            <a:ext cx="380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③</a:t>
            </a:r>
            <a:r>
              <a:rPr kumimoji="1" lang="ja-JP" altLang="en-US" b="1" dirty="0"/>
              <a:t>スパイに</a:t>
            </a:r>
            <a:r>
              <a:rPr kumimoji="1" lang="ja-JP" altLang="en-US" b="1" dirty="0">
                <a:solidFill>
                  <a:srgbClr val="FF0000"/>
                </a:solidFill>
              </a:rPr>
              <a:t>何回コールされたか</a:t>
            </a:r>
            <a:r>
              <a:rPr kumimoji="1" lang="ja-JP" altLang="en-US" b="1" dirty="0"/>
              <a:t>、</a:t>
            </a:r>
            <a:r>
              <a:rPr kumimoji="1" lang="ja-JP" altLang="en-US" b="1" dirty="0">
                <a:solidFill>
                  <a:srgbClr val="FF0000"/>
                </a:solidFill>
              </a:rPr>
              <a:t>どんな引数でコールされたか</a:t>
            </a:r>
            <a:r>
              <a:rPr kumimoji="1" lang="ja-JP" altLang="en-US" b="1" dirty="0"/>
              <a:t>聞く</a:t>
            </a:r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EB27C807-EE83-4184-BCF0-6B1DA22C816D}"/>
              </a:ext>
            </a:extLst>
          </p:cNvPr>
          <p:cNvCxnSpPr>
            <a:cxnSpLocks/>
            <a:stCxn id="24" idx="0"/>
            <a:endCxn id="26" idx="0"/>
          </p:cNvCxnSpPr>
          <p:nvPr/>
        </p:nvCxnSpPr>
        <p:spPr>
          <a:xfrm rot="5400000" flipH="1" flipV="1">
            <a:off x="5296513" y="862326"/>
            <a:ext cx="12700" cy="4967749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A2E0F08-9A5C-4D59-8399-38E18CA98F1C}"/>
              </a:ext>
            </a:extLst>
          </p:cNvPr>
          <p:cNvSpPr/>
          <p:nvPr/>
        </p:nvSpPr>
        <p:spPr>
          <a:xfrm>
            <a:off x="1840832" y="5100436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テストケース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E489957-7685-4CFC-81AE-65929C24FC2F}"/>
              </a:ext>
            </a:extLst>
          </p:cNvPr>
          <p:cNvSpPr/>
          <p:nvPr/>
        </p:nvSpPr>
        <p:spPr>
          <a:xfrm>
            <a:off x="4254652" y="5100436"/>
            <a:ext cx="1862805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対象クラス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648BD28-E896-45A4-8EE3-9C2F3241918E}"/>
              </a:ext>
            </a:extLst>
          </p:cNvPr>
          <p:cNvSpPr/>
          <p:nvPr/>
        </p:nvSpPr>
        <p:spPr>
          <a:xfrm>
            <a:off x="6992937" y="5100436"/>
            <a:ext cx="1494094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スパイ</a:t>
            </a:r>
          </a:p>
        </p:txBody>
      </p:sp>
      <p:cxnSp>
        <p:nvCxnSpPr>
          <p:cNvPr id="36" name="コネクタ: 曲線 35">
            <a:extLst>
              <a:ext uri="{FF2B5EF4-FFF2-40B4-BE49-F238E27FC236}">
                <a16:creationId xmlns:a16="http://schemas.microsoft.com/office/drawing/2014/main" id="{E704ADED-B753-468A-8E1C-7A172012DC0C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6117457" y="5378527"/>
            <a:ext cx="875480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14F72BF3-F2EB-4226-82AC-2452B9E4A851}"/>
              </a:ext>
            </a:extLst>
          </p:cNvPr>
          <p:cNvCxnSpPr>
            <a:cxnSpLocks/>
            <a:stCxn id="26" idx="2"/>
            <a:endCxn id="24" idx="2"/>
          </p:cNvCxnSpPr>
          <p:nvPr/>
        </p:nvCxnSpPr>
        <p:spPr>
          <a:xfrm rot="5400000">
            <a:off x="5296514" y="1418508"/>
            <a:ext cx="12700" cy="4967749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B4F16CC-3B6B-425E-8034-BC471E0357ED}"/>
              </a:ext>
            </a:extLst>
          </p:cNvPr>
          <p:cNvSpPr txBox="1"/>
          <p:nvPr/>
        </p:nvSpPr>
        <p:spPr>
          <a:xfrm>
            <a:off x="3495980" y="4198733"/>
            <a:ext cx="380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④スパイが正直に答える</a:t>
            </a:r>
            <a:endParaRPr kumimoji="1" lang="ja-JP" altLang="en-US" b="1" dirty="0"/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9075E3AB-EF5B-4830-A069-431D76B44BB6}"/>
              </a:ext>
            </a:extLst>
          </p:cNvPr>
          <p:cNvCxnSpPr>
            <a:cxnSpLocks/>
            <a:stCxn id="33" idx="0"/>
            <a:endCxn id="34" idx="0"/>
          </p:cNvCxnSpPr>
          <p:nvPr/>
        </p:nvCxnSpPr>
        <p:spPr>
          <a:xfrm rot="5400000" flipH="1" flipV="1">
            <a:off x="3979145" y="3893526"/>
            <a:ext cx="12700" cy="2413820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F1468A5-6AD6-4E93-8B9E-754279A3E167}"/>
              </a:ext>
            </a:extLst>
          </p:cNvPr>
          <p:cNvSpPr txBox="1"/>
          <p:nvPr/>
        </p:nvSpPr>
        <p:spPr>
          <a:xfrm>
            <a:off x="2198737" y="5753418"/>
            <a:ext cx="3586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⑤期待結果と合わない場合、</a:t>
            </a:r>
            <a:endParaRPr lang="en-US" altLang="ja-JP" b="1" dirty="0"/>
          </a:p>
          <a:p>
            <a:pPr algn="ctr"/>
            <a:r>
              <a:rPr lang="ja-JP" altLang="en-US" b="1" dirty="0">
                <a:solidFill>
                  <a:srgbClr val="FF0000"/>
                </a:solidFill>
              </a:rPr>
              <a:t>対象クラスのテストが失敗</a:t>
            </a:r>
            <a:r>
              <a:rPr lang="ja-JP" altLang="en-US" b="1" dirty="0"/>
              <a:t>する</a:t>
            </a:r>
            <a:endParaRPr kumimoji="1" lang="ja-JP" altLang="en-US" b="1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6E67F23-362E-40B9-9C05-9C940D4DC34A}"/>
              </a:ext>
            </a:extLst>
          </p:cNvPr>
          <p:cNvSpPr txBox="1"/>
          <p:nvPr/>
        </p:nvSpPr>
        <p:spPr>
          <a:xfrm>
            <a:off x="5837569" y="1636179"/>
            <a:ext cx="3691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対象クラスに決まった値を返し、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実行の記録を残す。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613811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D7F4634-563D-4BBB-9E20-8C1FCF945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04" y="502666"/>
            <a:ext cx="7742591" cy="58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70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1287FE-3CA4-4D33-A6CB-571285D232D3}"/>
              </a:ext>
            </a:extLst>
          </p:cNvPr>
          <p:cNvSpPr/>
          <p:nvPr/>
        </p:nvSpPr>
        <p:spPr>
          <a:xfrm>
            <a:off x="973393" y="1219200"/>
            <a:ext cx="2084439" cy="589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こう動いてほしい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E697B2-A477-45C0-9752-71FDB424F426}"/>
              </a:ext>
            </a:extLst>
          </p:cNvPr>
          <p:cNvSpPr txBox="1"/>
          <p:nvPr/>
        </p:nvSpPr>
        <p:spPr>
          <a:xfrm>
            <a:off x="1431988" y="849868"/>
            <a:ext cx="116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設計書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0AE33A0-D6CC-47EF-935E-B092DB83681F}"/>
              </a:ext>
            </a:extLst>
          </p:cNvPr>
          <p:cNvSpPr/>
          <p:nvPr/>
        </p:nvSpPr>
        <p:spPr>
          <a:xfrm>
            <a:off x="4355689" y="1219200"/>
            <a:ext cx="2084439" cy="589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ほんとに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こう動くか？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CA707C-6131-491F-90E3-1AFB01F25D85}"/>
              </a:ext>
            </a:extLst>
          </p:cNvPr>
          <p:cNvSpPr txBox="1"/>
          <p:nvPr/>
        </p:nvSpPr>
        <p:spPr>
          <a:xfrm>
            <a:off x="4530908" y="838598"/>
            <a:ext cx="17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テストコード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3F01A45-65BA-48B1-88B7-1007E8CD3B5B}"/>
              </a:ext>
            </a:extLst>
          </p:cNvPr>
          <p:cNvSpPr/>
          <p:nvPr/>
        </p:nvSpPr>
        <p:spPr>
          <a:xfrm>
            <a:off x="2635043" y="2644877"/>
            <a:ext cx="2084439" cy="589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FC8B99-C76E-4760-A9E3-F74D60153253}"/>
              </a:ext>
            </a:extLst>
          </p:cNvPr>
          <p:cNvSpPr txBox="1"/>
          <p:nvPr/>
        </p:nvSpPr>
        <p:spPr>
          <a:xfrm>
            <a:off x="3093638" y="2275545"/>
            <a:ext cx="116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コード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CB6CBDB8-A4C7-49B4-9241-E4CDB10D9C13}"/>
              </a:ext>
            </a:extLst>
          </p:cNvPr>
          <p:cNvSpPr/>
          <p:nvPr/>
        </p:nvSpPr>
        <p:spPr>
          <a:xfrm rot="3391619">
            <a:off x="1877641" y="2168635"/>
            <a:ext cx="743731" cy="432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108387C9-280B-4083-827A-690BF04E6728}"/>
              </a:ext>
            </a:extLst>
          </p:cNvPr>
          <p:cNvSpPr/>
          <p:nvPr/>
        </p:nvSpPr>
        <p:spPr>
          <a:xfrm rot="18796986">
            <a:off x="4727017" y="2059235"/>
            <a:ext cx="743731" cy="432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1FE178-70F3-4B89-A181-CB1FDF7E8DE1}"/>
              </a:ext>
            </a:extLst>
          </p:cNvPr>
          <p:cNvSpPr txBox="1"/>
          <p:nvPr/>
        </p:nvSpPr>
        <p:spPr>
          <a:xfrm>
            <a:off x="900680" y="2275545"/>
            <a:ext cx="116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開発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7225101-86ED-48A8-BA95-DB16A8934F4F}"/>
              </a:ext>
            </a:extLst>
          </p:cNvPr>
          <p:cNvSpPr txBox="1"/>
          <p:nvPr/>
        </p:nvSpPr>
        <p:spPr>
          <a:xfrm>
            <a:off x="5272880" y="2325225"/>
            <a:ext cx="116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テスト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A3246765-15F2-4347-AC3B-C26FEA7D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71" y="3693910"/>
            <a:ext cx="5553937" cy="245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26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1287FE-3CA4-4D33-A6CB-571285D232D3}"/>
              </a:ext>
            </a:extLst>
          </p:cNvPr>
          <p:cNvSpPr/>
          <p:nvPr/>
        </p:nvSpPr>
        <p:spPr>
          <a:xfrm>
            <a:off x="973393" y="1219200"/>
            <a:ext cx="2084439" cy="589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こう動いてほしい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E697B2-A477-45C0-9752-71FDB424F426}"/>
              </a:ext>
            </a:extLst>
          </p:cNvPr>
          <p:cNvSpPr txBox="1"/>
          <p:nvPr/>
        </p:nvSpPr>
        <p:spPr>
          <a:xfrm>
            <a:off x="1431988" y="849868"/>
            <a:ext cx="116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設計書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0AE33A0-D6CC-47EF-935E-B092DB83681F}"/>
              </a:ext>
            </a:extLst>
          </p:cNvPr>
          <p:cNvSpPr/>
          <p:nvPr/>
        </p:nvSpPr>
        <p:spPr>
          <a:xfrm>
            <a:off x="4355689" y="1219200"/>
            <a:ext cx="2084439" cy="589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ほんとに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こう動くか？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3F01A45-65BA-48B1-88B7-1007E8CD3B5B}"/>
              </a:ext>
            </a:extLst>
          </p:cNvPr>
          <p:cNvSpPr/>
          <p:nvPr/>
        </p:nvSpPr>
        <p:spPr>
          <a:xfrm>
            <a:off x="4355689" y="3145313"/>
            <a:ext cx="2084439" cy="589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FC8B99-C76E-4760-A9E3-F74D60153253}"/>
              </a:ext>
            </a:extLst>
          </p:cNvPr>
          <p:cNvSpPr txBox="1"/>
          <p:nvPr/>
        </p:nvSpPr>
        <p:spPr>
          <a:xfrm>
            <a:off x="4814284" y="2775981"/>
            <a:ext cx="116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コード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CB6CBDB8-A4C7-49B4-9241-E4CDB10D9C13}"/>
              </a:ext>
            </a:extLst>
          </p:cNvPr>
          <p:cNvSpPr/>
          <p:nvPr/>
        </p:nvSpPr>
        <p:spPr>
          <a:xfrm>
            <a:off x="3334895" y="1297857"/>
            <a:ext cx="743731" cy="432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108387C9-280B-4083-827A-690BF04E6728}"/>
              </a:ext>
            </a:extLst>
          </p:cNvPr>
          <p:cNvSpPr/>
          <p:nvPr/>
        </p:nvSpPr>
        <p:spPr>
          <a:xfrm rot="5400000">
            <a:off x="4491760" y="2251663"/>
            <a:ext cx="743731" cy="432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1FE178-70F3-4B89-A181-CB1FDF7E8DE1}"/>
              </a:ext>
            </a:extLst>
          </p:cNvPr>
          <p:cNvSpPr txBox="1"/>
          <p:nvPr/>
        </p:nvSpPr>
        <p:spPr>
          <a:xfrm>
            <a:off x="3093638" y="928525"/>
            <a:ext cx="116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①作成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3100A40-AD0A-47F8-A796-6F5582DD9499}"/>
              </a:ext>
            </a:extLst>
          </p:cNvPr>
          <p:cNvSpPr txBox="1"/>
          <p:nvPr/>
        </p:nvSpPr>
        <p:spPr>
          <a:xfrm>
            <a:off x="4530908" y="838598"/>
            <a:ext cx="17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テストコード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AC4C9E-22F5-4C75-8D0F-ED3023EF3E9C}"/>
              </a:ext>
            </a:extLst>
          </p:cNvPr>
          <p:cNvSpPr txBox="1"/>
          <p:nvPr/>
        </p:nvSpPr>
        <p:spPr>
          <a:xfrm>
            <a:off x="2599236" y="2110998"/>
            <a:ext cx="2084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b="1" dirty="0"/>
              <a:t>②テストをクリアするように開発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F65030B6-EE82-49E0-970B-920424AA7F27}"/>
              </a:ext>
            </a:extLst>
          </p:cNvPr>
          <p:cNvSpPr/>
          <p:nvPr/>
        </p:nvSpPr>
        <p:spPr>
          <a:xfrm rot="16200000">
            <a:off x="5676733" y="2219734"/>
            <a:ext cx="743731" cy="432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C7C9200-369D-4A78-86E8-454DBB92A7EF}"/>
              </a:ext>
            </a:extLst>
          </p:cNvPr>
          <p:cNvSpPr txBox="1"/>
          <p:nvPr/>
        </p:nvSpPr>
        <p:spPr>
          <a:xfrm>
            <a:off x="6210470" y="2220942"/>
            <a:ext cx="2084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b="1" dirty="0"/>
              <a:t>③</a:t>
            </a:r>
            <a:r>
              <a:rPr kumimoji="1" lang="ja-JP" altLang="en-US" b="1" dirty="0"/>
              <a:t>ほんとにクリアしているかテスト</a:t>
            </a:r>
          </a:p>
        </p:txBody>
      </p:sp>
      <p:sp>
        <p:nvSpPr>
          <p:cNvPr id="4" name="矢印: 上カーブ 3">
            <a:extLst>
              <a:ext uri="{FF2B5EF4-FFF2-40B4-BE49-F238E27FC236}">
                <a16:creationId xmlns:a16="http://schemas.microsoft.com/office/drawing/2014/main" id="{76A665C7-D9A4-4DB3-ACC2-0B11AB4A2A5E}"/>
              </a:ext>
            </a:extLst>
          </p:cNvPr>
          <p:cNvSpPr/>
          <p:nvPr/>
        </p:nvSpPr>
        <p:spPr>
          <a:xfrm>
            <a:off x="5079936" y="3962399"/>
            <a:ext cx="752352" cy="51909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232242D-97B8-45B0-8A5E-71EEE6E808F5}"/>
              </a:ext>
            </a:extLst>
          </p:cNvPr>
          <p:cNvSpPr txBox="1"/>
          <p:nvPr/>
        </p:nvSpPr>
        <p:spPr>
          <a:xfrm>
            <a:off x="2730203" y="4037278"/>
            <a:ext cx="2336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b="1" dirty="0"/>
              <a:t>④</a:t>
            </a:r>
            <a:r>
              <a:rPr kumimoji="1" lang="ja-JP" altLang="en-US" b="1" dirty="0"/>
              <a:t>リファクタリング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03873D4-FD6B-4473-A344-3AF052985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470" y="3916754"/>
            <a:ext cx="5617736" cy="280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39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475</Words>
  <Application>Microsoft Office PowerPoint</Application>
  <PresentationFormat>ワイド画面</PresentationFormat>
  <Paragraphs>157</Paragraphs>
  <Slides>14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oka</dc:creator>
  <cp:lastModifiedBy>oka</cp:lastModifiedBy>
  <cp:revision>28</cp:revision>
  <dcterms:created xsi:type="dcterms:W3CDTF">2026-03-31T07:54:43Z</dcterms:created>
  <dcterms:modified xsi:type="dcterms:W3CDTF">2026-04-07T08:35:03Z</dcterms:modified>
</cp:coreProperties>
</file>