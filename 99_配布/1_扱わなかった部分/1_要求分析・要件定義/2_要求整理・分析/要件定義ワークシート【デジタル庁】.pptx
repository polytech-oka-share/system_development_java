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handoutMasterIdLst>
    <p:handoutMasterId r:id="rId12"/>
  </p:handoutMasterIdLst>
  <p:sldIdLst>
    <p:sldId id="515" r:id="rId5"/>
    <p:sldId id="518" r:id="rId6"/>
    <p:sldId id="517" r:id="rId7"/>
    <p:sldId id="519" r:id="rId8"/>
    <p:sldId id="520" r:id="rId9"/>
    <p:sldId id="463"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0000"/>
    <a:srgbClr val="FDEDEE"/>
    <a:srgbClr val="E9F2FF"/>
    <a:srgbClr val="F1E2E3"/>
    <a:srgbClr val="0833CE"/>
    <a:srgbClr val="DEE5F2"/>
    <a:srgbClr val="D4DBE7"/>
    <a:srgbClr val="C2C8D3"/>
    <a:srgbClr val="F7F9FC"/>
    <a:srgbClr val="F8F8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99" autoAdjust="0"/>
    <p:restoredTop sz="92624" autoAdjust="0"/>
  </p:normalViewPr>
  <p:slideViewPr>
    <p:cSldViewPr snapToGrid="0" showGuides="1">
      <p:cViewPr varScale="1">
        <p:scale>
          <a:sx n="147" d="100"/>
          <a:sy n="147" d="100"/>
        </p:scale>
        <p:origin x="216" y="288"/>
      </p:cViewPr>
      <p:guideLst/>
    </p:cSldViewPr>
  </p:slideViewPr>
  <p:notesTextViewPr>
    <p:cViewPr>
      <p:scale>
        <a:sx n="1" d="1"/>
        <a:sy n="1" d="1"/>
      </p:scale>
      <p:origin x="0" y="0"/>
    </p:cViewPr>
  </p:notesTextViewPr>
  <p:sorterViewPr>
    <p:cViewPr>
      <p:scale>
        <a:sx n="100" d="100"/>
        <a:sy n="100" d="100"/>
      </p:scale>
      <p:origin x="0" y="-23958"/>
    </p:cViewPr>
  </p:sorterViewPr>
  <p:notesViewPr>
    <p:cSldViewPr snapToGrid="0" showGuides="1">
      <p:cViewPr varScale="1">
        <p:scale>
          <a:sx n="114" d="100"/>
          <a:sy n="114" d="100"/>
        </p:scale>
        <p:origin x="3056"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A86A4F-2F3A-41B4-96D7-A6BC734F24E4}" type="datetimeFigureOut">
              <a:rPr kumimoji="1" lang="ja-JP" altLang="en-US" smtClean="0"/>
              <a:t>2024/5/28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3DC025-AECC-46A6-BBF6-25B58FD61275}" type="slidenum">
              <a:rPr kumimoji="1" lang="ja-JP" altLang="en-US" smtClean="0"/>
              <a:t>‹#›</a:t>
            </a:fld>
            <a:endParaRPr kumimoji="1" lang="ja-JP" altLang="en-US"/>
          </a:p>
        </p:txBody>
      </p:sp>
    </p:spTree>
    <p:extLst>
      <p:ext uri="{BB962C8B-B14F-4D97-AF65-F5344CB8AC3E}">
        <p14:creationId xmlns:p14="http://schemas.microsoft.com/office/powerpoint/2010/main" val="19537997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AA0B1D-7A51-42D9-8DFA-09F3C87A49A6}" type="datetimeFigureOut">
              <a:rPr kumimoji="1" lang="ja-JP" altLang="en-US" smtClean="0"/>
              <a:t>2024/5/28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FCBF7-8B09-4221-B653-D7FD288FFF6B}" type="slidenum">
              <a:rPr kumimoji="1" lang="ja-JP" altLang="en-US" smtClean="0"/>
              <a:t>‹#›</a:t>
            </a:fld>
            <a:endParaRPr kumimoji="1" lang="ja-JP" altLang="en-US"/>
          </a:p>
        </p:txBody>
      </p:sp>
    </p:spTree>
    <p:extLst>
      <p:ext uri="{BB962C8B-B14F-4D97-AF65-F5344CB8AC3E}">
        <p14:creationId xmlns:p14="http://schemas.microsoft.com/office/powerpoint/2010/main" val="8106958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12" name="図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タイトル 1"/>
          <p:cNvSpPr>
            <a:spLocks noGrp="1"/>
          </p:cNvSpPr>
          <p:nvPr>
            <p:ph type="ctrTitle" hasCustomPrompt="1"/>
          </p:nvPr>
        </p:nvSpPr>
        <p:spPr>
          <a:xfrm>
            <a:off x="1056000" y="2709000"/>
            <a:ext cx="10080000" cy="720000"/>
          </a:xfrm>
          <a:prstGeom prst="rect">
            <a:avLst/>
          </a:prstGeom>
        </p:spPr>
        <p:txBody>
          <a:bodyPr lIns="0" tIns="0" rIns="0" bIns="0" anchor="t"/>
          <a:lstStyle>
            <a:lvl1pPr algn="l">
              <a:lnSpc>
                <a:spcPct val="120000"/>
              </a:lnSpc>
              <a:defRPr sz="4000" b="0"/>
            </a:lvl1pPr>
          </a:lstStyle>
          <a:p>
            <a:r>
              <a:rPr kumimoji="1" lang="ja-JP" altLang="en-US"/>
              <a:t>資料タイトル</a:t>
            </a:r>
            <a:endParaRPr kumimoji="1" lang="ja-JP" altLang="en-US" dirty="0"/>
          </a:p>
        </p:txBody>
      </p:sp>
      <p:sp>
        <p:nvSpPr>
          <p:cNvPr id="3" name="サブタイトル 2"/>
          <p:cNvSpPr>
            <a:spLocks noGrp="1"/>
          </p:cNvSpPr>
          <p:nvPr>
            <p:ph type="subTitle" idx="1" hasCustomPrompt="1"/>
          </p:nvPr>
        </p:nvSpPr>
        <p:spPr>
          <a:xfrm>
            <a:off x="1054901" y="4149000"/>
            <a:ext cx="1261100" cy="437577"/>
          </a:xfrm>
          <a:prstGeom prst="rect">
            <a:avLst/>
          </a:prstGeom>
        </p:spPr>
        <p:txBody>
          <a:bodyPr lIns="0" tIns="0" rIns="0" bIns="0" anchor="t"/>
          <a:lstStyle>
            <a:lvl1pPr marL="0" indent="0" algn="l">
              <a:lnSpc>
                <a:spcPct val="100000"/>
              </a:lnSpc>
              <a:spcBef>
                <a:spcPts val="0"/>
              </a:spcBef>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en-US" altLang="ja-JP" dirty="0"/>
              <a:t>YYYY/MM/DD</a:t>
            </a:r>
            <a:endParaRPr kumimoji="1" lang="ja-JP" altLang="en-US" dirty="0"/>
          </a:p>
        </p:txBody>
      </p:sp>
      <p:sp>
        <p:nvSpPr>
          <p:cNvPr id="11" name="テキスト プレースホルダー 10"/>
          <p:cNvSpPr>
            <a:spLocks noGrp="1"/>
          </p:cNvSpPr>
          <p:nvPr>
            <p:ph type="body" sz="quarter" idx="10" hasCustomPrompt="1"/>
          </p:nvPr>
        </p:nvSpPr>
        <p:spPr>
          <a:xfrm>
            <a:off x="1050299" y="1269000"/>
            <a:ext cx="10085701" cy="405000"/>
          </a:xfrm>
          <a:prstGeom prst="rect">
            <a:avLst/>
          </a:prstGeom>
        </p:spPr>
        <p:txBody>
          <a:bodyPr lIns="0" tIns="0" rIns="0" bIns="0" anchor="t"/>
          <a:lstStyle>
            <a:lvl1pPr marL="0" indent="0">
              <a:lnSpc>
                <a:spcPct val="100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サブタイトル</a:t>
            </a:r>
            <a:endParaRPr kumimoji="1" lang="ja-JP" altLang="en-US" dirty="0"/>
          </a:p>
        </p:txBody>
      </p:sp>
      <p:sp>
        <p:nvSpPr>
          <p:cNvPr id="5" name="テキスト プレースホルダー 4"/>
          <p:cNvSpPr>
            <a:spLocks noGrp="1"/>
          </p:cNvSpPr>
          <p:nvPr>
            <p:ph type="body" sz="quarter" idx="11" hasCustomPrompt="1"/>
          </p:nvPr>
        </p:nvSpPr>
        <p:spPr>
          <a:xfrm>
            <a:off x="2361001" y="4149000"/>
            <a:ext cx="8775000" cy="437577"/>
          </a:xfrm>
          <a:prstGeom prst="rect">
            <a:avLst/>
          </a:prstGeom>
        </p:spPr>
        <p:txBody>
          <a:bodyPr lIns="0" tIns="0" rIns="0" bIns="0"/>
          <a:lstStyle>
            <a:lvl1pPr marL="0" indent="0">
              <a:lnSpc>
                <a:spcPct val="100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kumimoji="1" lang="ja-JP" altLang="en-US" dirty="0"/>
              <a:t>部署名・担当者名</a:t>
            </a:r>
          </a:p>
        </p:txBody>
      </p:sp>
    </p:spTree>
    <p:extLst>
      <p:ext uri="{BB962C8B-B14F-4D97-AF65-F5344CB8AC3E}">
        <p14:creationId xmlns:p14="http://schemas.microsoft.com/office/powerpoint/2010/main" val="3880034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4B43663D-F33C-8640-389B-B350A0B860FB}"/>
              </a:ext>
            </a:extLst>
          </p:cNvPr>
          <p:cNvSpPr/>
          <p:nvPr userDrawn="1"/>
        </p:nvSpPr>
        <p:spPr>
          <a:xfrm>
            <a:off x="0" y="0"/>
            <a:ext cx="12192000" cy="6858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endParaRPr lang="en-JP" sz="1400" b="1" dirty="0">
              <a:solidFill>
                <a:schemeClr val="tx1"/>
              </a:solidFill>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77977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裏表紙">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01587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2288282"/>
      </p:ext>
    </p:extLst>
  </p:cSld>
  <p:clrMap bg1="lt1" tx1="dk1" bg2="lt2" tx2="dk2" accent1="accent1" accent2="accent2" accent3="accent3" accent4="accent4" accent5="accent5" accent6="accent6" hlink="hlink" folHlink="folHlink"/>
  <p:sldLayoutIdLst>
    <p:sldLayoutId id="2147483673" r:id="rId1"/>
    <p:sldLayoutId id="2147483697" r:id="rId2"/>
    <p:sldLayoutId id="2147483696"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6" userDrawn="1">
          <p15:clr>
            <a:srgbClr val="F26B43"/>
          </p15:clr>
        </p15:guide>
        <p15:guide id="4" pos="7514" userDrawn="1">
          <p15:clr>
            <a:srgbClr val="F26B43"/>
          </p15:clr>
        </p15:guide>
        <p15:guide id="5" orient="horz" pos="3997" userDrawn="1">
          <p15:clr>
            <a:srgbClr val="F26B43"/>
          </p15:clr>
        </p15:guide>
        <p15:guide id="6" orient="horz" pos="4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40229-343C-883F-4384-9A7C2089F7D9}"/>
              </a:ext>
            </a:extLst>
          </p:cNvPr>
          <p:cNvSpPr>
            <a:spLocks noGrp="1"/>
          </p:cNvSpPr>
          <p:nvPr>
            <p:ph type="ctrTitle"/>
          </p:nvPr>
        </p:nvSpPr>
        <p:spPr>
          <a:xfrm>
            <a:off x="1056000" y="2191500"/>
            <a:ext cx="10080000" cy="1455826"/>
          </a:xfrm>
        </p:spPr>
        <p:txBody>
          <a:bodyPr anchor="ctr"/>
          <a:lstStyle/>
          <a:p>
            <a:r>
              <a:rPr lang="en-JP" b="1" dirty="0">
                <a:latin typeface="Yu Gothic Medium" panose="020B0400000000000000" pitchFamily="34" charset="-128"/>
                <a:ea typeface="Yu Gothic Medium" panose="020B0400000000000000" pitchFamily="34" charset="-128"/>
              </a:rPr>
              <a:t>要件定義ワークシート</a:t>
            </a:r>
          </a:p>
        </p:txBody>
      </p:sp>
      <p:sp>
        <p:nvSpPr>
          <p:cNvPr id="3" name="Subtitle 2">
            <a:extLst>
              <a:ext uri="{FF2B5EF4-FFF2-40B4-BE49-F238E27FC236}">
                <a16:creationId xmlns:a16="http://schemas.microsoft.com/office/drawing/2014/main" id="{58356382-F548-2F5D-D30C-D4598DA54B0A}"/>
              </a:ext>
            </a:extLst>
          </p:cNvPr>
          <p:cNvSpPr>
            <a:spLocks noGrp="1"/>
          </p:cNvSpPr>
          <p:nvPr>
            <p:ph type="subTitle" idx="1"/>
          </p:nvPr>
        </p:nvSpPr>
        <p:spPr/>
        <p:txBody>
          <a:bodyPr/>
          <a:lstStyle/>
          <a:p>
            <a:r>
              <a:rPr lang="en-JP" dirty="0">
                <a:latin typeface="Yu Gothic Medium" panose="020B0400000000000000" pitchFamily="34" charset="-128"/>
                <a:ea typeface="Yu Gothic Medium" panose="020B0400000000000000" pitchFamily="34" charset="-128"/>
              </a:rPr>
              <a:t>2024/0</a:t>
            </a:r>
            <a:r>
              <a:rPr lang="en-US" dirty="0">
                <a:latin typeface="Yu Gothic Medium" panose="020B0400000000000000" pitchFamily="34" charset="-128"/>
                <a:ea typeface="Yu Gothic Medium" panose="020B0400000000000000" pitchFamily="34" charset="-128"/>
              </a:rPr>
              <a:t>5</a:t>
            </a:r>
            <a:r>
              <a:rPr lang="en-JP" dirty="0">
                <a:latin typeface="Yu Gothic Medium" panose="020B0400000000000000" pitchFamily="34" charset="-128"/>
                <a:ea typeface="Yu Gothic Medium" panose="020B0400000000000000" pitchFamily="34" charset="-128"/>
              </a:rPr>
              <a:t>/</a:t>
            </a:r>
            <a:r>
              <a:rPr lang="en-US">
                <a:latin typeface="Yu Gothic Medium" panose="020B0400000000000000" pitchFamily="34" charset="-128"/>
                <a:ea typeface="Yu Gothic Medium" panose="020B0400000000000000" pitchFamily="34" charset="-128"/>
              </a:rPr>
              <a:t>3</a:t>
            </a:r>
            <a:r>
              <a:rPr lang="en-JP">
                <a:latin typeface="Yu Gothic Medium" panose="020B0400000000000000" pitchFamily="34" charset="-128"/>
                <a:ea typeface="Yu Gothic Medium" panose="020B0400000000000000" pitchFamily="34" charset="-128"/>
              </a:rPr>
              <a:t>1</a:t>
            </a:r>
            <a:endParaRPr lang="en-JP" dirty="0">
              <a:latin typeface="Yu Gothic Medium" panose="020B0400000000000000" pitchFamily="34" charset="-128"/>
              <a:ea typeface="Yu Gothic Medium" panose="020B0400000000000000" pitchFamily="34" charset="-128"/>
            </a:endParaRPr>
          </a:p>
        </p:txBody>
      </p:sp>
      <p:sp>
        <p:nvSpPr>
          <p:cNvPr id="4" name="Text Placeholder 3">
            <a:extLst>
              <a:ext uri="{FF2B5EF4-FFF2-40B4-BE49-F238E27FC236}">
                <a16:creationId xmlns:a16="http://schemas.microsoft.com/office/drawing/2014/main" id="{F9A3368D-890B-C0B9-0115-67B589258837}"/>
              </a:ext>
            </a:extLst>
          </p:cNvPr>
          <p:cNvSpPr>
            <a:spLocks noGrp="1"/>
          </p:cNvSpPr>
          <p:nvPr>
            <p:ph type="body" sz="quarter" idx="10"/>
          </p:nvPr>
        </p:nvSpPr>
        <p:spPr/>
        <p:txBody>
          <a:bodyPr/>
          <a:lstStyle/>
          <a:p>
            <a:r>
              <a:rPr lang="en-JP" dirty="0">
                <a:latin typeface="Yu Gothic Medium" panose="020B0400000000000000" pitchFamily="34" charset="-128"/>
                <a:ea typeface="Yu Gothic Medium" panose="020B0400000000000000" pitchFamily="34" charset="-128"/>
              </a:rPr>
              <a:t>ダッシュボードデザインの実践ガイドブック</a:t>
            </a:r>
          </a:p>
        </p:txBody>
      </p:sp>
      <p:sp>
        <p:nvSpPr>
          <p:cNvPr id="5" name="Text Placeholder 4">
            <a:extLst>
              <a:ext uri="{FF2B5EF4-FFF2-40B4-BE49-F238E27FC236}">
                <a16:creationId xmlns:a16="http://schemas.microsoft.com/office/drawing/2014/main" id="{490D406E-67D6-1D9E-2234-B00B6475E949}"/>
              </a:ext>
            </a:extLst>
          </p:cNvPr>
          <p:cNvSpPr>
            <a:spLocks noGrp="1"/>
          </p:cNvSpPr>
          <p:nvPr>
            <p:ph type="body" sz="quarter" idx="11"/>
          </p:nvPr>
        </p:nvSpPr>
        <p:spPr/>
        <p:txBody>
          <a:bodyPr/>
          <a:lstStyle/>
          <a:p>
            <a:r>
              <a:rPr lang="en-JP">
                <a:latin typeface="Yu Gothic Medium" panose="020B0400000000000000" pitchFamily="34" charset="-128"/>
                <a:ea typeface="Yu Gothic Medium" panose="020B0400000000000000" pitchFamily="34" charset="-128"/>
              </a:rPr>
              <a:t>デジタル庁</a:t>
            </a:r>
            <a:endParaRPr lang="en-JP" dirty="0">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289237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CDC1A6-73C7-D620-9B66-393FA69476CD}"/>
              </a:ext>
            </a:extLst>
          </p:cNvPr>
          <p:cNvSpPr txBox="1"/>
          <p:nvPr/>
        </p:nvSpPr>
        <p:spPr>
          <a:xfrm>
            <a:off x="263525" y="692150"/>
            <a:ext cx="2776722"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プロジェクトの基本情報</a:t>
            </a:r>
          </a:p>
        </p:txBody>
      </p:sp>
      <p:sp>
        <p:nvSpPr>
          <p:cNvPr id="3" name="TextBox 2">
            <a:extLst>
              <a:ext uri="{FF2B5EF4-FFF2-40B4-BE49-F238E27FC236}">
                <a16:creationId xmlns:a16="http://schemas.microsoft.com/office/drawing/2014/main" id="{55AE59C4-3964-B97B-03C6-12E56E181309}"/>
              </a:ext>
            </a:extLst>
          </p:cNvPr>
          <p:cNvSpPr txBox="1"/>
          <p:nvPr/>
        </p:nvSpPr>
        <p:spPr>
          <a:xfrm>
            <a:off x="263525" y="182995"/>
            <a:ext cx="3336170"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要件定義ワークシート（1/2）</a:t>
            </a:r>
          </a:p>
        </p:txBody>
      </p:sp>
      <p:sp>
        <p:nvSpPr>
          <p:cNvPr id="10" name="Rounded Rectangle 9">
            <a:extLst>
              <a:ext uri="{FF2B5EF4-FFF2-40B4-BE49-F238E27FC236}">
                <a16:creationId xmlns:a16="http://schemas.microsoft.com/office/drawing/2014/main" id="{894092D4-A578-257F-7229-36A561FE2554}"/>
              </a:ext>
            </a:extLst>
          </p:cNvPr>
          <p:cNvSpPr/>
          <p:nvPr/>
        </p:nvSpPr>
        <p:spPr>
          <a:xfrm>
            <a:off x="263525" y="1553388"/>
            <a:ext cx="5700857" cy="2034543"/>
          </a:xfrm>
          <a:prstGeom prst="roundRect">
            <a:avLst>
              <a:gd name="adj" fmla="val 619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プロダクトオーナー</a:t>
            </a:r>
          </a:p>
          <a:p>
            <a:pPr marL="228600" indent="-2286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各プロジェクトリーダー</a:t>
            </a:r>
          </a:p>
          <a:p>
            <a:pPr marL="228600" indent="-2286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マーケティング担当者（ダッシュボードプロトタイプのレビュワー）</a:t>
            </a:r>
          </a:p>
        </p:txBody>
      </p:sp>
      <p:sp>
        <p:nvSpPr>
          <p:cNvPr id="12" name="TextBox 11">
            <a:extLst>
              <a:ext uri="{FF2B5EF4-FFF2-40B4-BE49-F238E27FC236}">
                <a16:creationId xmlns:a16="http://schemas.microsoft.com/office/drawing/2014/main" id="{DB0285C1-D53F-770D-8366-8BCE1E941E75}"/>
              </a:ext>
            </a:extLst>
          </p:cNvPr>
          <p:cNvSpPr txBox="1"/>
          <p:nvPr/>
        </p:nvSpPr>
        <p:spPr>
          <a:xfrm>
            <a:off x="263525" y="1201305"/>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関係者</a:t>
            </a:r>
            <a:r>
              <a:rPr lang="en-JP" sz="1200" dirty="0">
                <a:solidFill>
                  <a:schemeClr val="tx1"/>
                </a:solidFill>
                <a:latin typeface="Yu Gothic Medium" panose="020B0400000000000000" pitchFamily="34" charset="-128"/>
                <a:ea typeface="Yu Gothic Medium" panose="020B0400000000000000" pitchFamily="34" charset="-128"/>
              </a:rPr>
              <a:t>（ダッシュボードを見る人やレビューする人は誰か？）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14" name="Rounded Rectangle 13">
            <a:extLst>
              <a:ext uri="{FF2B5EF4-FFF2-40B4-BE49-F238E27FC236}">
                <a16:creationId xmlns:a16="http://schemas.microsoft.com/office/drawing/2014/main" id="{F286C86B-C396-B4D5-8A05-2A4F238B85FD}"/>
              </a:ext>
            </a:extLst>
          </p:cNvPr>
          <p:cNvSpPr/>
          <p:nvPr/>
        </p:nvSpPr>
        <p:spPr>
          <a:xfrm>
            <a:off x="263525" y="4131307"/>
            <a:ext cx="5700857" cy="2034543"/>
          </a:xfrm>
          <a:prstGeom prst="roundRect">
            <a:avLst>
              <a:gd name="adj" fmla="val 6618"/>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マーケティング担当者はタブレットで仕事しているため、パソコンとタブレットサイズに対応する必要がある</a:t>
            </a:r>
          </a:p>
          <a:p>
            <a:pPr marL="228600" indent="-228600">
              <a:lnSpc>
                <a:spcPct val="130000"/>
              </a:lnSpc>
              <a:buFont typeface="+mj-lt"/>
              <a:buAutoNum type="arabicPeriod"/>
            </a:pPr>
            <a:r>
              <a:rPr lang="ja-JP" altLang="en-US" sz="1200">
                <a:solidFill>
                  <a:schemeClr val="accent1"/>
                </a:solidFill>
                <a:latin typeface="Yu Gothic Medium" panose="020B0400000000000000" pitchFamily="34" charset="-128"/>
                <a:ea typeface="Yu Gothic Medium" panose="020B0400000000000000" pitchFamily="34" charset="-128"/>
              </a:rPr>
              <a:t>担当者から、多くのレポートは確認しきれないため、重要な指標を多くても３枚以内でまとめてほしいと要望がある</a:t>
            </a: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16" name="TextBox 15">
            <a:extLst>
              <a:ext uri="{FF2B5EF4-FFF2-40B4-BE49-F238E27FC236}">
                <a16:creationId xmlns:a16="http://schemas.microsoft.com/office/drawing/2014/main" id="{CF7A1909-F8B3-F68B-930C-5CB499D8C437}"/>
              </a:ext>
            </a:extLst>
          </p:cNvPr>
          <p:cNvSpPr txBox="1"/>
          <p:nvPr/>
        </p:nvSpPr>
        <p:spPr>
          <a:xfrm>
            <a:off x="263525" y="3779223"/>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ダッシュボードの制約</a:t>
            </a:r>
            <a:r>
              <a:rPr lang="en-JP" sz="1200" dirty="0">
                <a:solidFill>
                  <a:schemeClr val="tx1"/>
                </a:solidFill>
                <a:latin typeface="Yu Gothic Medium" panose="020B0400000000000000" pitchFamily="34" charset="-128"/>
                <a:ea typeface="Yu Gothic Medium" panose="020B0400000000000000" pitchFamily="34" charset="-128"/>
              </a:rPr>
              <a:t>（掲載媒体や画面的制約は何か？）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17" name="Rounded Rectangle 16">
            <a:extLst>
              <a:ext uri="{FF2B5EF4-FFF2-40B4-BE49-F238E27FC236}">
                <a16:creationId xmlns:a16="http://schemas.microsoft.com/office/drawing/2014/main" id="{72167D4C-2DFD-B642-2D86-D05C3F44D2DB}"/>
              </a:ext>
            </a:extLst>
          </p:cNvPr>
          <p:cNvSpPr/>
          <p:nvPr/>
        </p:nvSpPr>
        <p:spPr>
          <a:xfrm>
            <a:off x="6237605" y="1555722"/>
            <a:ext cx="5700857" cy="2034543"/>
          </a:xfrm>
          <a:prstGeom prst="roundRect">
            <a:avLst>
              <a:gd name="adj" fmla="val 7902"/>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データは１週間毎で集計されるため更新頻度は週1回。</a:t>
            </a:r>
            <a:r>
              <a:rPr lang="ja-JP" altLang="en-US" sz="1200">
                <a:solidFill>
                  <a:schemeClr val="accent1"/>
                </a:solidFill>
                <a:latin typeface="Yu Gothic Medium" panose="020B0400000000000000" pitchFamily="34" charset="-128"/>
                <a:ea typeface="Yu Gothic Medium" panose="020B0400000000000000" pitchFamily="34" charset="-128"/>
              </a:rPr>
              <a:t>ただし、顧客別のデータのみ更新頻度が月に</a:t>
            </a:r>
            <a:r>
              <a:rPr lang="en-US" altLang="ja-JP" sz="1200" dirty="0">
                <a:solidFill>
                  <a:schemeClr val="accent1"/>
                </a:solidFill>
                <a:latin typeface="Yu Gothic Medium" panose="020B0400000000000000" pitchFamily="34" charset="-128"/>
                <a:ea typeface="Yu Gothic Medium" panose="020B0400000000000000" pitchFamily="34" charset="-128"/>
              </a:rPr>
              <a:t>1</a:t>
            </a:r>
            <a:r>
              <a:rPr lang="ja-JP" altLang="en-US" sz="1200">
                <a:solidFill>
                  <a:schemeClr val="accent1"/>
                </a:solidFill>
                <a:latin typeface="Yu Gothic Medium" panose="020B0400000000000000" pitchFamily="34" charset="-128"/>
                <a:ea typeface="Yu Gothic Medium" panose="020B0400000000000000" pitchFamily="34" charset="-128"/>
              </a:rPr>
              <a:t>度であり、留意する必要がある</a:t>
            </a:r>
            <a:endParaRPr lang="en-JP" sz="1200" dirty="0">
              <a:solidFill>
                <a:schemeClr val="accent1"/>
              </a:solidFill>
              <a:latin typeface="Yu Gothic Medium" panose="020B0400000000000000" pitchFamily="34" charset="-128"/>
              <a:ea typeface="Yu Gothic Medium" panose="020B0400000000000000" pitchFamily="34" charset="-128"/>
            </a:endParaRPr>
          </a:p>
          <a:p>
            <a:pPr marL="228600" indent="-228600">
              <a:lnSpc>
                <a:spcPct val="130000"/>
              </a:lnSpc>
              <a:buFont typeface="+mj-lt"/>
              <a:buAutoNum type="arabicPeriod"/>
            </a:pPr>
            <a:r>
              <a:rPr lang="ja-JP" altLang="en-US" sz="1200">
                <a:solidFill>
                  <a:schemeClr val="accent1"/>
                </a:solidFill>
                <a:latin typeface="Yu Gothic Medium" panose="020B0400000000000000" pitchFamily="34" charset="-128"/>
                <a:ea typeface="Yu Gothic Medium" panose="020B0400000000000000" pitchFamily="34" charset="-128"/>
              </a:rPr>
              <a:t>顧客業界のラベルは年次によって変わっている可能性があるので留意が必要。また、一部業界が「不明」になってしまっているパターンがある</a:t>
            </a:r>
            <a:endParaRPr lang="en-US" altLang="ja-JP" sz="1200" dirty="0">
              <a:solidFill>
                <a:schemeClr val="accent1"/>
              </a:solidFill>
              <a:latin typeface="Yu Gothic Medium" panose="020B0400000000000000" pitchFamily="34" charset="-128"/>
              <a:ea typeface="Yu Gothic Medium" panose="020B0400000000000000" pitchFamily="34" charset="-128"/>
            </a:endParaRPr>
          </a:p>
          <a:p>
            <a:pPr marL="228600" indent="-228600">
              <a:lnSpc>
                <a:spcPct val="130000"/>
              </a:lnSpc>
              <a:buFont typeface="+mj-lt"/>
              <a:buAutoNum type="arabicPeriod"/>
            </a:pPr>
            <a:r>
              <a:rPr lang="ja-JP" altLang="en-US" sz="1200">
                <a:solidFill>
                  <a:schemeClr val="accent1"/>
                </a:solidFill>
                <a:latin typeface="Yu Gothic Medium" panose="020B0400000000000000" pitchFamily="34" charset="-128"/>
                <a:ea typeface="Yu Gothic Medium" panose="020B0400000000000000" pitchFamily="34" charset="-128"/>
              </a:rPr>
              <a:t>売上はキャンセルされた場合の減少分は</a:t>
            </a:r>
            <a:r>
              <a:rPr lang="en-US" altLang="ja-JP" sz="1200" dirty="0">
                <a:solidFill>
                  <a:schemeClr val="accent1"/>
                </a:solidFill>
                <a:latin typeface="Yu Gothic Medium" panose="020B0400000000000000" pitchFamily="34" charset="-128"/>
                <a:ea typeface="Yu Gothic Medium" panose="020B0400000000000000" pitchFamily="34" charset="-128"/>
              </a:rPr>
              <a:t>30</a:t>
            </a:r>
            <a:r>
              <a:rPr lang="ja-JP" altLang="en-US" sz="1200">
                <a:solidFill>
                  <a:schemeClr val="accent1"/>
                </a:solidFill>
                <a:latin typeface="Yu Gothic Medium" panose="020B0400000000000000" pitchFamily="34" charset="-128"/>
                <a:ea typeface="Yu Gothic Medium" panose="020B0400000000000000" pitchFamily="34" charset="-128"/>
              </a:rPr>
              <a:t>日経過しないとわからないため、週次更新のデータはキャンセルを加味する前の速報値となる</a:t>
            </a: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18" name="TextBox 17">
            <a:extLst>
              <a:ext uri="{FF2B5EF4-FFF2-40B4-BE49-F238E27FC236}">
                <a16:creationId xmlns:a16="http://schemas.microsoft.com/office/drawing/2014/main" id="{914261AA-B7A0-1287-5B7E-554A906DBD1E}"/>
              </a:ext>
            </a:extLst>
          </p:cNvPr>
          <p:cNvSpPr txBox="1"/>
          <p:nvPr/>
        </p:nvSpPr>
        <p:spPr>
          <a:xfrm>
            <a:off x="6237605" y="120363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データの制約</a:t>
            </a:r>
            <a:r>
              <a:rPr lang="en-JP" sz="1200" dirty="0">
                <a:solidFill>
                  <a:schemeClr val="tx1"/>
                </a:solidFill>
                <a:latin typeface="Yu Gothic Medium" panose="020B0400000000000000" pitchFamily="34" charset="-128"/>
                <a:ea typeface="Yu Gothic Medium" panose="020B0400000000000000" pitchFamily="34" charset="-128"/>
              </a:rPr>
              <a:t>（データ項目や更新頻度、分解粒度の制約は何か？）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21" name="Rounded Rectangle 20">
            <a:extLst>
              <a:ext uri="{FF2B5EF4-FFF2-40B4-BE49-F238E27FC236}">
                <a16:creationId xmlns:a16="http://schemas.microsoft.com/office/drawing/2014/main" id="{D5FE7266-A8EA-CA70-1A33-2194A5CE3EC7}"/>
              </a:ext>
            </a:extLst>
          </p:cNvPr>
          <p:cNvSpPr/>
          <p:nvPr/>
        </p:nvSpPr>
        <p:spPr>
          <a:xfrm>
            <a:off x="6237605" y="4131307"/>
            <a:ext cx="5700857" cy="2034543"/>
          </a:xfrm>
          <a:prstGeom prst="roundRect">
            <a:avLst>
              <a:gd name="adj" fmla="val 7902"/>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要件整理：2月第1週〜 2月第4週</a:t>
            </a:r>
          </a:p>
          <a:p>
            <a:pPr marL="342900" indent="-3429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プロトタイピング：3月第1週〜3月第4週</a:t>
            </a:r>
          </a:p>
          <a:p>
            <a:pPr marL="342900" indent="-3429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実装：4月第1週〜 4月第4週</a:t>
            </a:r>
          </a:p>
          <a:p>
            <a:pPr marL="342900" indent="-342900">
              <a:lnSpc>
                <a:spcPct val="130000"/>
              </a:lnSpc>
              <a:buFont typeface="+mj-lt"/>
              <a:buAutoNum type="arabicPeriod"/>
            </a:pPr>
            <a:r>
              <a:rPr lang="en-JP" sz="1200" dirty="0">
                <a:solidFill>
                  <a:schemeClr val="accent1"/>
                </a:solidFill>
                <a:latin typeface="Yu Gothic Medium" panose="020B0400000000000000" pitchFamily="34" charset="-128"/>
                <a:ea typeface="Yu Gothic Medium" panose="020B0400000000000000" pitchFamily="34" charset="-128"/>
              </a:rPr>
              <a:t>利用開始日：5月第1週目処</a:t>
            </a:r>
          </a:p>
        </p:txBody>
      </p:sp>
      <p:sp>
        <p:nvSpPr>
          <p:cNvPr id="22" name="TextBox 21">
            <a:extLst>
              <a:ext uri="{FF2B5EF4-FFF2-40B4-BE49-F238E27FC236}">
                <a16:creationId xmlns:a16="http://schemas.microsoft.com/office/drawing/2014/main" id="{B7BA464D-A842-7A65-DEBD-99946EA7CD81}"/>
              </a:ext>
            </a:extLst>
          </p:cNvPr>
          <p:cNvSpPr txBox="1"/>
          <p:nvPr/>
        </p:nvSpPr>
        <p:spPr>
          <a:xfrm>
            <a:off x="6237605" y="3779223"/>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スケジュールの整理</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4" name="Rectangle 3">
            <a:extLst>
              <a:ext uri="{FF2B5EF4-FFF2-40B4-BE49-F238E27FC236}">
                <a16:creationId xmlns:a16="http://schemas.microsoft.com/office/drawing/2014/main" id="{AAEBD376-3B97-81AC-71D4-957B9CB5452A}"/>
              </a:ext>
            </a:extLst>
          </p:cNvPr>
          <p:cNvSpPr/>
          <p:nvPr/>
        </p:nvSpPr>
        <p:spPr>
          <a:xfrm rot="2700000">
            <a:off x="10766639" y="296577"/>
            <a:ext cx="1870761" cy="4110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1400" dirty="0"/>
              <a:t>記入サンプル</a:t>
            </a:r>
          </a:p>
        </p:txBody>
      </p:sp>
    </p:spTree>
    <p:extLst>
      <p:ext uri="{BB962C8B-B14F-4D97-AF65-F5344CB8AC3E}">
        <p14:creationId xmlns:p14="http://schemas.microsoft.com/office/powerpoint/2010/main" val="224853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Straight Arrow Connector 46">
            <a:extLst>
              <a:ext uri="{FF2B5EF4-FFF2-40B4-BE49-F238E27FC236}">
                <a16:creationId xmlns:a16="http://schemas.microsoft.com/office/drawing/2014/main" id="{14697B86-3D64-FEB0-6813-A8F02DBCE8CD}"/>
              </a:ext>
            </a:extLst>
          </p:cNvPr>
          <p:cNvCxnSpPr>
            <a:cxnSpLocks/>
          </p:cNvCxnSpPr>
          <p:nvPr/>
        </p:nvCxnSpPr>
        <p:spPr>
          <a:xfrm>
            <a:off x="2966255" y="4186469"/>
            <a:ext cx="6268551"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4590F2A-C2A2-0958-6053-7856C3310958}"/>
              </a:ext>
            </a:extLst>
          </p:cNvPr>
          <p:cNvCxnSpPr>
            <a:cxnSpLocks/>
          </p:cNvCxnSpPr>
          <p:nvPr/>
        </p:nvCxnSpPr>
        <p:spPr>
          <a:xfrm>
            <a:off x="2966255" y="5646737"/>
            <a:ext cx="6268551"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F9B9A00-B884-A812-D3C5-7A7639EDA92B}"/>
              </a:ext>
            </a:extLst>
          </p:cNvPr>
          <p:cNvCxnSpPr>
            <a:cxnSpLocks/>
          </p:cNvCxnSpPr>
          <p:nvPr/>
        </p:nvCxnSpPr>
        <p:spPr>
          <a:xfrm>
            <a:off x="2966255" y="2730500"/>
            <a:ext cx="6268551"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9CDC1A6-73C7-D620-9B66-393FA69476CD}"/>
              </a:ext>
            </a:extLst>
          </p:cNvPr>
          <p:cNvSpPr txBox="1"/>
          <p:nvPr/>
        </p:nvSpPr>
        <p:spPr>
          <a:xfrm>
            <a:off x="263525" y="692150"/>
            <a:ext cx="2492990"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ダッシュボードの目的</a:t>
            </a:r>
          </a:p>
        </p:txBody>
      </p:sp>
      <p:sp>
        <p:nvSpPr>
          <p:cNvPr id="3" name="TextBox 2">
            <a:extLst>
              <a:ext uri="{FF2B5EF4-FFF2-40B4-BE49-F238E27FC236}">
                <a16:creationId xmlns:a16="http://schemas.microsoft.com/office/drawing/2014/main" id="{55AE59C4-3964-B97B-03C6-12E56E181309}"/>
              </a:ext>
            </a:extLst>
          </p:cNvPr>
          <p:cNvSpPr txBox="1"/>
          <p:nvPr/>
        </p:nvSpPr>
        <p:spPr>
          <a:xfrm>
            <a:off x="263525" y="182995"/>
            <a:ext cx="3401893"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要件定義ワークシート （2/2）</a:t>
            </a:r>
          </a:p>
        </p:txBody>
      </p:sp>
      <p:sp>
        <p:nvSpPr>
          <p:cNvPr id="5" name="Rounded Rectangle 4">
            <a:extLst>
              <a:ext uri="{FF2B5EF4-FFF2-40B4-BE49-F238E27FC236}">
                <a16:creationId xmlns:a16="http://schemas.microsoft.com/office/drawing/2014/main" id="{97341F0E-A3D7-D8B0-D376-B08E9E8D9797}"/>
              </a:ext>
            </a:extLst>
          </p:cNvPr>
          <p:cNvSpPr/>
          <p:nvPr/>
        </p:nvSpPr>
        <p:spPr>
          <a:xfrm>
            <a:off x="263525" y="2031998"/>
            <a:ext cx="2702730" cy="4313239"/>
          </a:xfrm>
          <a:prstGeom prst="roundRect">
            <a:avLst>
              <a:gd name="adj" fmla="val 3819"/>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JP" sz="1200" dirty="0">
                <a:solidFill>
                  <a:schemeClr val="accent1"/>
                </a:solidFill>
                <a:latin typeface="Yu Gothic Medium" panose="020B0400000000000000" pitchFamily="34" charset="-128"/>
                <a:ea typeface="Yu Gothic Medium" panose="020B0400000000000000" pitchFamily="34" charset="-128"/>
              </a:rPr>
              <a:t>最新の売上を適時把握し、週次の目標値が未達の場合、問題点や機会領域を発見し、打開策を検討できるようにする</a:t>
            </a:r>
          </a:p>
        </p:txBody>
      </p:sp>
      <p:sp>
        <p:nvSpPr>
          <p:cNvPr id="12" name="Rounded Rectangle 11">
            <a:extLst>
              <a:ext uri="{FF2B5EF4-FFF2-40B4-BE49-F238E27FC236}">
                <a16:creationId xmlns:a16="http://schemas.microsoft.com/office/drawing/2014/main" id="{C3E355A1-6209-32C0-CF42-E3B159A75D0C}"/>
              </a:ext>
            </a:extLst>
          </p:cNvPr>
          <p:cNvSpPr/>
          <p:nvPr/>
        </p:nvSpPr>
        <p:spPr>
          <a:xfrm>
            <a:off x="9236848" y="2032000"/>
            <a:ext cx="2691626" cy="4313238"/>
          </a:xfrm>
          <a:prstGeom prst="roundRect">
            <a:avLst>
              <a:gd name="adj" fmla="val 5418"/>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JP" sz="1200" dirty="0">
                <a:solidFill>
                  <a:schemeClr val="accent1"/>
                </a:solidFill>
                <a:latin typeface="Yu Gothic Medium" panose="020B0400000000000000" pitchFamily="34" charset="-128"/>
                <a:ea typeface="Yu Gothic Medium" panose="020B0400000000000000" pitchFamily="34" charset="-128"/>
              </a:rPr>
              <a:t>必要とされるデータ</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売上データ</a:t>
            </a:r>
            <a:br>
              <a:rPr lang="en-JP" sz="1200" dirty="0">
                <a:solidFill>
                  <a:schemeClr val="accent1"/>
                </a:solidFill>
                <a:latin typeface="Yu Gothic Medium" panose="020B0400000000000000" pitchFamily="34" charset="-128"/>
                <a:ea typeface="Yu Gothic Medium" panose="020B0400000000000000" pitchFamily="34" charset="-128"/>
              </a:rPr>
            </a:br>
            <a:r>
              <a:rPr lang="en-JP" sz="1200" dirty="0">
                <a:solidFill>
                  <a:schemeClr val="accent1"/>
                </a:solidFill>
                <a:latin typeface="Yu Gothic Medium" panose="020B0400000000000000" pitchFamily="34" charset="-128"/>
                <a:ea typeface="Yu Gothic Medium" panose="020B0400000000000000" pitchFamily="34" charset="-128"/>
              </a:rPr>
              <a:t>週次での実績値と目標値の推移</a:t>
            </a:r>
            <a:br>
              <a:rPr lang="en-JP" sz="1200" dirty="0">
                <a:solidFill>
                  <a:schemeClr val="accent1"/>
                </a:solidFill>
                <a:latin typeface="Yu Gothic Medium" panose="020B0400000000000000" pitchFamily="34" charset="-128"/>
                <a:ea typeface="Yu Gothic Medium" panose="020B0400000000000000" pitchFamily="34" charset="-128"/>
              </a:rPr>
            </a:br>
            <a:r>
              <a:rPr lang="en-JP" sz="1200" dirty="0">
                <a:solidFill>
                  <a:schemeClr val="accent1"/>
                </a:solidFill>
                <a:latin typeface="Yu Gothic Medium" panose="020B0400000000000000" pitchFamily="34" charset="-128"/>
                <a:ea typeface="Yu Gothic Medium" panose="020B0400000000000000" pitchFamily="34" charset="-128"/>
              </a:rPr>
              <a:t>部門別</a:t>
            </a:r>
            <a:br>
              <a:rPr lang="en-JP" sz="1200" dirty="0">
                <a:solidFill>
                  <a:schemeClr val="accent1"/>
                </a:solidFill>
                <a:latin typeface="Yu Gothic Medium" panose="020B0400000000000000" pitchFamily="34" charset="-128"/>
                <a:ea typeface="Yu Gothic Medium" panose="020B0400000000000000" pitchFamily="34" charset="-128"/>
              </a:rPr>
            </a:br>
            <a:r>
              <a:rPr lang="en-JP" sz="1200" dirty="0">
                <a:solidFill>
                  <a:schemeClr val="accent1"/>
                </a:solidFill>
                <a:latin typeface="Yu Gothic Medium" panose="020B0400000000000000" pitchFamily="34" charset="-128"/>
                <a:ea typeface="Yu Gothic Medium" panose="020B0400000000000000" pitchFamily="34" charset="-128"/>
              </a:rPr>
              <a:t>顧客属性別</a:t>
            </a:r>
            <a:br>
              <a:rPr lang="en-JP" sz="1200" dirty="0">
                <a:solidFill>
                  <a:schemeClr val="accent1"/>
                </a:solidFill>
                <a:latin typeface="Yu Gothic Medium" panose="020B0400000000000000" pitchFamily="34" charset="-128"/>
                <a:ea typeface="Yu Gothic Medium" panose="020B0400000000000000" pitchFamily="34" charset="-128"/>
              </a:rPr>
            </a:br>
            <a:r>
              <a:rPr lang="en-JP" sz="1200" dirty="0">
                <a:solidFill>
                  <a:schemeClr val="accent1"/>
                </a:solidFill>
                <a:latin typeface="Yu Gothic Medium" panose="020B0400000000000000" pitchFamily="34" charset="-128"/>
                <a:ea typeface="Yu Gothic Medium" panose="020B0400000000000000" pitchFamily="34" charset="-128"/>
              </a:rPr>
              <a:t>対応店舗別</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顧客データ</a:t>
            </a:r>
            <a:br>
              <a:rPr lang="en-JP" sz="1200" dirty="0">
                <a:solidFill>
                  <a:schemeClr val="accent1"/>
                </a:solidFill>
                <a:latin typeface="Yu Gothic Medium" panose="020B0400000000000000" pitchFamily="34" charset="-128"/>
                <a:ea typeface="Yu Gothic Medium" panose="020B0400000000000000" pitchFamily="34" charset="-128"/>
              </a:rPr>
            </a:br>
            <a:r>
              <a:rPr lang="en-JP" sz="1200" dirty="0">
                <a:solidFill>
                  <a:schemeClr val="accent1"/>
                </a:solidFill>
                <a:latin typeface="Yu Gothic Medium" panose="020B0400000000000000" pitchFamily="34" charset="-128"/>
                <a:ea typeface="Yu Gothic Medium" panose="020B0400000000000000" pitchFamily="34" charset="-128"/>
              </a:rPr>
              <a:t>週次での推移</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対応店舗データ</a:t>
            </a:r>
            <a:br>
              <a:rPr lang="en-JP" sz="1200" dirty="0">
                <a:solidFill>
                  <a:schemeClr val="accent1"/>
                </a:solidFill>
                <a:latin typeface="Yu Gothic Medium" panose="020B0400000000000000" pitchFamily="34" charset="-128"/>
                <a:ea typeface="Yu Gothic Medium" panose="020B0400000000000000" pitchFamily="34" charset="-128"/>
              </a:rPr>
            </a:br>
            <a:r>
              <a:rPr lang="en-JP" sz="1200" dirty="0">
                <a:solidFill>
                  <a:schemeClr val="accent1"/>
                </a:solidFill>
                <a:latin typeface="Yu Gothic Medium" panose="020B0400000000000000" pitchFamily="34" charset="-128"/>
                <a:ea typeface="Yu Gothic Medium" panose="020B0400000000000000" pitchFamily="34" charset="-128"/>
              </a:rPr>
              <a:t>週次での推移</a:t>
            </a:r>
          </a:p>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a:p>
            <a:pPr>
              <a:lnSpc>
                <a:spcPct val="130000"/>
              </a:lnSpc>
            </a:pPr>
            <a:r>
              <a:rPr lang="en-JP" sz="1200" dirty="0">
                <a:solidFill>
                  <a:schemeClr val="accent1"/>
                </a:solidFill>
                <a:latin typeface="Yu Gothic Medium" panose="020B0400000000000000" pitchFamily="34" charset="-128"/>
                <a:ea typeface="Yu Gothic Medium" panose="020B0400000000000000" pitchFamily="34" charset="-128"/>
              </a:rPr>
              <a:t>必要とされる機能</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売上や顧客数が伸びている優秀な対応店舗が見つけられる</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今後、開拓すべきエリアや店舗が見つけられる</a:t>
            </a:r>
          </a:p>
        </p:txBody>
      </p:sp>
      <p:sp>
        <p:nvSpPr>
          <p:cNvPr id="9" name="Rounded Rectangle 8">
            <a:extLst>
              <a:ext uri="{FF2B5EF4-FFF2-40B4-BE49-F238E27FC236}">
                <a16:creationId xmlns:a16="http://schemas.microsoft.com/office/drawing/2014/main" id="{75365100-2068-75D7-69D4-6CB3E42E302B}"/>
              </a:ext>
            </a:extLst>
          </p:cNvPr>
          <p:cNvSpPr/>
          <p:nvPr/>
        </p:nvSpPr>
        <p:spPr>
          <a:xfrm>
            <a:off x="3262864" y="2032000"/>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JP" sz="1200" dirty="0">
                <a:solidFill>
                  <a:schemeClr val="accent1"/>
                </a:solidFill>
                <a:latin typeface="Yu Gothic Medium" panose="020B0400000000000000" pitchFamily="34" charset="-128"/>
                <a:ea typeface="Yu Gothic Medium" panose="020B0400000000000000" pitchFamily="34" charset="-128"/>
              </a:rPr>
              <a:t>売上が目標通りの推移をしているか確認して、メンバーや上層部に報告できる</a:t>
            </a:r>
          </a:p>
        </p:txBody>
      </p:sp>
      <p:sp>
        <p:nvSpPr>
          <p:cNvPr id="30" name="TextBox 29">
            <a:extLst>
              <a:ext uri="{FF2B5EF4-FFF2-40B4-BE49-F238E27FC236}">
                <a16:creationId xmlns:a16="http://schemas.microsoft.com/office/drawing/2014/main" id="{A5A7F34B-C274-3E0E-BBE2-4F078DDE8744}"/>
              </a:ext>
            </a:extLst>
          </p:cNvPr>
          <p:cNvSpPr txBox="1"/>
          <p:nvPr/>
        </p:nvSpPr>
        <p:spPr>
          <a:xfrm>
            <a:off x="263525" y="6471774"/>
            <a:ext cx="10116872" cy="253916"/>
          </a:xfrm>
          <a:prstGeom prst="rect">
            <a:avLst/>
          </a:prstGeom>
          <a:noFill/>
        </p:spPr>
        <p:txBody>
          <a:bodyPr wrap="none" rtlCol="0">
            <a:spAutoFit/>
          </a:bodyPr>
          <a:lstStyle/>
          <a:p>
            <a:r>
              <a:rPr lang="en-JP" sz="1050" dirty="0">
                <a:solidFill>
                  <a:schemeClr val="tx1">
                    <a:lumMod val="50000"/>
                    <a:lumOff val="50000"/>
                  </a:schemeClr>
                </a:solidFill>
                <a:latin typeface="Yu Gothic" panose="020B0400000000000000" pitchFamily="34" charset="-128"/>
                <a:ea typeface="Yu Gothic" panose="020B0400000000000000" pitchFamily="34" charset="-128"/>
              </a:rPr>
              <a:t>※目的を達成するために必要な行動や情報（What, so What）は、複数ある場合が多いです。また、それらの項目ごとに誰が、いつ、どこで見るのかが異なります。</a:t>
            </a:r>
          </a:p>
        </p:txBody>
      </p:sp>
      <p:sp>
        <p:nvSpPr>
          <p:cNvPr id="34" name="TextBox 33">
            <a:extLst>
              <a:ext uri="{FF2B5EF4-FFF2-40B4-BE49-F238E27FC236}">
                <a16:creationId xmlns:a16="http://schemas.microsoft.com/office/drawing/2014/main" id="{D22EF5D6-816E-5042-0926-FEEB8443219B}"/>
              </a:ext>
            </a:extLst>
          </p:cNvPr>
          <p:cNvSpPr txBox="1"/>
          <p:nvPr/>
        </p:nvSpPr>
        <p:spPr>
          <a:xfrm>
            <a:off x="263526" y="1203639"/>
            <a:ext cx="2702730" cy="595035"/>
          </a:xfrm>
          <a:prstGeom prst="rect">
            <a:avLst/>
          </a:prstGeom>
          <a:noFill/>
        </p:spPr>
        <p:txBody>
          <a:bodyPr wrap="square">
            <a:spAutoFit/>
          </a:bodyPr>
          <a:lstStyle/>
          <a:p>
            <a:pPr>
              <a:lnSpc>
                <a:spcPct val="130000"/>
              </a:lnSpc>
            </a:pPr>
            <a:r>
              <a:rPr lang="en-JP" sz="1400" b="1" dirty="0">
                <a:solidFill>
                  <a:schemeClr val="tx1"/>
                </a:solidFill>
                <a:latin typeface="Yu Gothic" panose="020B0400000000000000" pitchFamily="34" charset="-128"/>
                <a:ea typeface="Yu Gothic" panose="020B0400000000000000" pitchFamily="34" charset="-128"/>
              </a:rPr>
              <a:t>Why</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ダッシュボードの目的は何か？</a:t>
            </a:r>
          </a:p>
        </p:txBody>
      </p:sp>
      <p:sp>
        <p:nvSpPr>
          <p:cNvPr id="37" name="TextBox 36">
            <a:extLst>
              <a:ext uri="{FF2B5EF4-FFF2-40B4-BE49-F238E27FC236}">
                <a16:creationId xmlns:a16="http://schemas.microsoft.com/office/drawing/2014/main" id="{5ECF2F39-371E-61AB-9160-C95D5B7E4403}"/>
              </a:ext>
            </a:extLst>
          </p:cNvPr>
          <p:cNvSpPr txBox="1"/>
          <p:nvPr/>
        </p:nvSpPr>
        <p:spPr>
          <a:xfrm>
            <a:off x="3260726" y="1203639"/>
            <a:ext cx="2702730" cy="796565"/>
          </a:xfrm>
          <a:prstGeom prst="rect">
            <a:avLst/>
          </a:prstGeom>
          <a:noFill/>
        </p:spPr>
        <p:txBody>
          <a:bodyPr wrap="square">
            <a:spAutoFit/>
          </a:bodyPr>
          <a:lstStyle/>
          <a:p>
            <a:pPr>
              <a:lnSpc>
                <a:spcPct val="130000"/>
              </a:lnSpc>
            </a:pPr>
            <a:r>
              <a:rPr lang="en-JP" sz="1400" b="1" dirty="0">
                <a:solidFill>
                  <a:schemeClr val="tx1"/>
                </a:solidFill>
                <a:latin typeface="Yu Gothic" panose="020B0400000000000000" pitchFamily="34" charset="-128"/>
                <a:ea typeface="Yu Gothic" panose="020B0400000000000000" pitchFamily="34" charset="-128"/>
              </a:rPr>
              <a:t>What, so What</a:t>
            </a:r>
          </a:p>
          <a:p>
            <a:pPr>
              <a:lnSpc>
                <a:spcPct val="130000"/>
              </a:lnSpc>
            </a:pPr>
            <a:r>
              <a:rPr lang="ja-JP" altLang="en-US" sz="1100">
                <a:solidFill>
                  <a:schemeClr val="tx1"/>
                </a:solidFill>
                <a:latin typeface="Yu Gothic Medium" panose="020B0400000000000000" pitchFamily="34" charset="-128"/>
                <a:ea typeface="Yu Gothic Medium" panose="020B0400000000000000" pitchFamily="34" charset="-128"/>
              </a:rPr>
              <a:t>どんな意思決定や行動のために、</a:t>
            </a:r>
            <a:endParaRPr lang="en-US" altLang="ja-JP" sz="1100" dirty="0">
              <a:solidFill>
                <a:schemeClr val="tx1"/>
              </a:solidFill>
              <a:latin typeface="Yu Gothic Medium" panose="020B0400000000000000" pitchFamily="34" charset="-128"/>
              <a:ea typeface="Yu Gothic Medium" panose="020B0400000000000000" pitchFamily="34" charset="-128"/>
            </a:endParaRPr>
          </a:p>
          <a:p>
            <a:pPr>
              <a:lnSpc>
                <a:spcPct val="130000"/>
              </a:lnSpc>
            </a:pPr>
            <a:r>
              <a:rPr lang="ja-JP" altLang="en-US" sz="1100">
                <a:solidFill>
                  <a:schemeClr val="tx1"/>
                </a:solidFill>
                <a:latin typeface="Yu Gothic Medium" panose="020B0400000000000000" pitchFamily="34" charset="-128"/>
                <a:ea typeface="Yu Gothic Medium" panose="020B0400000000000000" pitchFamily="34" charset="-128"/>
              </a:rPr>
              <a:t>どのような情報を知るべきか？</a:t>
            </a:r>
            <a:endParaRPr lang="en-JP" sz="1100" dirty="0">
              <a:solidFill>
                <a:schemeClr val="tx1"/>
              </a:solidFill>
              <a:latin typeface="Yu Gothic Medium" panose="020B0400000000000000" pitchFamily="34" charset="-128"/>
              <a:ea typeface="Yu Gothic Medium" panose="020B0400000000000000" pitchFamily="34" charset="-128"/>
            </a:endParaRPr>
          </a:p>
        </p:txBody>
      </p:sp>
      <p:sp>
        <p:nvSpPr>
          <p:cNvPr id="38" name="TextBox 37">
            <a:extLst>
              <a:ext uri="{FF2B5EF4-FFF2-40B4-BE49-F238E27FC236}">
                <a16:creationId xmlns:a16="http://schemas.microsoft.com/office/drawing/2014/main" id="{68544B6F-1B2B-0A40-6598-CD88EE18561E}"/>
              </a:ext>
            </a:extLst>
          </p:cNvPr>
          <p:cNvSpPr txBox="1"/>
          <p:nvPr/>
        </p:nvSpPr>
        <p:spPr>
          <a:xfrm>
            <a:off x="6247766" y="1203639"/>
            <a:ext cx="2702730" cy="595035"/>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Who, When, Where</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誰が、いつ、どこで見るのか？</a:t>
            </a:r>
          </a:p>
        </p:txBody>
      </p:sp>
      <p:sp>
        <p:nvSpPr>
          <p:cNvPr id="39" name="TextBox 38">
            <a:extLst>
              <a:ext uri="{FF2B5EF4-FFF2-40B4-BE49-F238E27FC236}">
                <a16:creationId xmlns:a16="http://schemas.microsoft.com/office/drawing/2014/main" id="{E998F9CE-3F7E-2470-4A85-BF8378B40C47}"/>
              </a:ext>
            </a:extLst>
          </p:cNvPr>
          <p:cNvSpPr txBox="1"/>
          <p:nvPr/>
        </p:nvSpPr>
        <p:spPr>
          <a:xfrm>
            <a:off x="9234806" y="1203639"/>
            <a:ext cx="2702730" cy="796565"/>
          </a:xfrm>
          <a:prstGeom prst="rect">
            <a:avLst/>
          </a:prstGeom>
          <a:noFill/>
        </p:spPr>
        <p:txBody>
          <a:bodyPr wrap="square">
            <a:spAutoFit/>
          </a:bodyPr>
          <a:lstStyle/>
          <a:p>
            <a:pPr>
              <a:lnSpc>
                <a:spcPct val="130000"/>
              </a:lnSpc>
            </a:pPr>
            <a:r>
              <a:rPr lang="en-JP" sz="1400" b="1" dirty="0">
                <a:solidFill>
                  <a:schemeClr val="tx1"/>
                </a:solidFill>
                <a:latin typeface="Yu Gothic" panose="020B0400000000000000" pitchFamily="34" charset="-128"/>
                <a:ea typeface="Yu Gothic" panose="020B0400000000000000" pitchFamily="34" charset="-128"/>
              </a:rPr>
              <a:t>How</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求められる機能やデータ項目は何か？</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必要な更新頻度は？</a:t>
            </a:r>
          </a:p>
        </p:txBody>
      </p:sp>
      <p:sp>
        <p:nvSpPr>
          <p:cNvPr id="40" name="Rounded Rectangle 39">
            <a:extLst>
              <a:ext uri="{FF2B5EF4-FFF2-40B4-BE49-F238E27FC236}">
                <a16:creationId xmlns:a16="http://schemas.microsoft.com/office/drawing/2014/main" id="{67A174C4-617E-8699-67CD-0769A486A47F}"/>
              </a:ext>
            </a:extLst>
          </p:cNvPr>
          <p:cNvSpPr/>
          <p:nvPr/>
        </p:nvSpPr>
        <p:spPr>
          <a:xfrm>
            <a:off x="3262864" y="3487969"/>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ja-JP" altLang="en-US" sz="1200">
                <a:solidFill>
                  <a:schemeClr val="accent1"/>
                </a:solidFill>
                <a:latin typeface="Yu Gothic Medium" panose="020B0400000000000000" pitchFamily="34" charset="-128"/>
                <a:ea typeface="Yu Gothic Medium" panose="020B0400000000000000" pitchFamily="34" charset="-128"/>
              </a:rPr>
              <a:t>売上が未達の場合、その要因を把握できる。その情報に基づいて、取るべき打開策をデータを見ながら議論できる</a:t>
            </a:r>
          </a:p>
        </p:txBody>
      </p:sp>
      <p:sp>
        <p:nvSpPr>
          <p:cNvPr id="41" name="Rounded Rectangle 40">
            <a:extLst>
              <a:ext uri="{FF2B5EF4-FFF2-40B4-BE49-F238E27FC236}">
                <a16:creationId xmlns:a16="http://schemas.microsoft.com/office/drawing/2014/main" id="{9CFF12A8-80FE-BDC3-B79A-62C796D47962}"/>
              </a:ext>
            </a:extLst>
          </p:cNvPr>
          <p:cNvSpPr/>
          <p:nvPr/>
        </p:nvSpPr>
        <p:spPr>
          <a:xfrm>
            <a:off x="3262864" y="4948237"/>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JP" sz="1200" dirty="0">
                <a:solidFill>
                  <a:schemeClr val="accent1"/>
                </a:solidFill>
                <a:latin typeface="Yu Gothic Medium" panose="020B0400000000000000" pitchFamily="34" charset="-128"/>
                <a:ea typeface="Yu Gothic Medium" panose="020B0400000000000000" pitchFamily="34" charset="-128"/>
              </a:rPr>
              <a:t>優先的に対応すべき顧客や連携店舗を考えるために、去年からの売上の伸び率や詳細な顧客属性を把握できる</a:t>
            </a:r>
          </a:p>
        </p:txBody>
      </p:sp>
      <p:sp>
        <p:nvSpPr>
          <p:cNvPr id="42" name="Rounded Rectangle 41">
            <a:extLst>
              <a:ext uri="{FF2B5EF4-FFF2-40B4-BE49-F238E27FC236}">
                <a16:creationId xmlns:a16="http://schemas.microsoft.com/office/drawing/2014/main" id="{01FCA006-5134-9ABC-110C-BE3BB3356CF3}"/>
              </a:ext>
            </a:extLst>
          </p:cNvPr>
          <p:cNvSpPr/>
          <p:nvPr/>
        </p:nvSpPr>
        <p:spPr>
          <a:xfrm>
            <a:off x="6260064" y="2032000"/>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nSpc>
                <a:spcPct val="130000"/>
              </a:lnSpc>
              <a:buFont typeface="Arial" panose="020B0604020202020204" pitchFamily="34" charset="0"/>
              <a:buChar char="•"/>
            </a:pPr>
            <a:r>
              <a:rPr lang="ja-JP" altLang="en-US" sz="1200">
                <a:solidFill>
                  <a:schemeClr val="accent1"/>
                </a:solidFill>
                <a:latin typeface="Yu Gothic Medium" panose="020B0400000000000000" pitchFamily="34" charset="-128"/>
                <a:ea typeface="Yu Gothic Medium" panose="020B0400000000000000" pitchFamily="34" charset="-128"/>
              </a:rPr>
              <a:t>執行役員等</a:t>
            </a:r>
          </a:p>
          <a:p>
            <a:pPr marL="171450" indent="-171450">
              <a:lnSpc>
                <a:spcPct val="130000"/>
              </a:lnSpc>
              <a:buFont typeface="Arial" panose="020B0604020202020204" pitchFamily="34" charset="0"/>
              <a:buChar char="•"/>
            </a:pPr>
            <a:r>
              <a:rPr lang="ja-JP" altLang="en-US" sz="1200">
                <a:solidFill>
                  <a:schemeClr val="accent1"/>
                </a:solidFill>
                <a:latin typeface="Yu Gothic Medium" panose="020B0400000000000000" pitchFamily="34" charset="-128"/>
                <a:ea typeface="Yu Gothic Medium" panose="020B0400000000000000" pitchFamily="34" charset="-128"/>
              </a:rPr>
              <a:t>隔週の経営会議での利用</a:t>
            </a:r>
          </a:p>
          <a:p>
            <a:pPr marL="171450" indent="-171450">
              <a:lnSpc>
                <a:spcPct val="130000"/>
              </a:lnSpc>
              <a:buFont typeface="Arial" panose="020B0604020202020204" pitchFamily="34" charset="0"/>
              <a:buChar char="•"/>
            </a:pPr>
            <a:r>
              <a:rPr lang="ja-JP" altLang="en-US" sz="1200">
                <a:solidFill>
                  <a:schemeClr val="accent1"/>
                </a:solidFill>
                <a:latin typeface="Yu Gothic Medium" panose="020B0400000000000000" pitchFamily="34" charset="-128"/>
                <a:ea typeface="Yu Gothic Medium" panose="020B0400000000000000" pitchFamily="34" charset="-128"/>
              </a:rPr>
              <a:t>ダッシュボードのキャプチャを示して売上状況を説明</a:t>
            </a:r>
          </a:p>
        </p:txBody>
      </p:sp>
      <p:sp>
        <p:nvSpPr>
          <p:cNvPr id="43" name="Rounded Rectangle 42">
            <a:extLst>
              <a:ext uri="{FF2B5EF4-FFF2-40B4-BE49-F238E27FC236}">
                <a16:creationId xmlns:a16="http://schemas.microsoft.com/office/drawing/2014/main" id="{8AD9D970-F14C-B7E6-D126-69940DDE879E}"/>
              </a:ext>
            </a:extLst>
          </p:cNvPr>
          <p:cNvSpPr/>
          <p:nvPr/>
        </p:nvSpPr>
        <p:spPr>
          <a:xfrm>
            <a:off x="6260064" y="3487969"/>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nSpc>
                <a:spcPct val="130000"/>
              </a:lnSpc>
              <a:buFont typeface="Arial" panose="020B0604020202020204" pitchFamily="34" charset="0"/>
              <a:buChar char="•"/>
            </a:pPr>
            <a:r>
              <a:rPr lang="ja-JP" altLang="en-US" sz="1200">
                <a:solidFill>
                  <a:schemeClr val="accent1"/>
                </a:solidFill>
                <a:latin typeface="Yu Gothic Medium" panose="020B0400000000000000" pitchFamily="34" charset="-128"/>
                <a:ea typeface="Yu Gothic Medium" panose="020B0400000000000000" pitchFamily="34" charset="-128"/>
              </a:rPr>
              <a:t>プロジェクトメンバー全員</a:t>
            </a:r>
          </a:p>
          <a:p>
            <a:pPr marL="171450" indent="-171450">
              <a:lnSpc>
                <a:spcPct val="130000"/>
              </a:lnSpc>
              <a:buFont typeface="Arial" panose="020B0604020202020204" pitchFamily="34" charset="0"/>
              <a:buChar char="•"/>
            </a:pPr>
            <a:r>
              <a:rPr lang="ja-JP" altLang="en-US" sz="1200">
                <a:solidFill>
                  <a:schemeClr val="accent1"/>
                </a:solidFill>
                <a:latin typeface="Yu Gothic Medium" panose="020B0400000000000000" pitchFamily="34" charset="-128"/>
                <a:ea typeface="Yu Gothic Medium" panose="020B0400000000000000" pitchFamily="34" charset="-128"/>
              </a:rPr>
              <a:t>週に一度のチーム定例での議論に利用</a:t>
            </a:r>
          </a:p>
          <a:p>
            <a:pPr marL="171450" indent="-171450">
              <a:lnSpc>
                <a:spcPct val="130000"/>
              </a:lnSpc>
              <a:buFont typeface="Arial" panose="020B0604020202020204" pitchFamily="34" charset="0"/>
              <a:buChar char="•"/>
            </a:pPr>
            <a:r>
              <a:rPr lang="ja-JP" altLang="en-US" sz="1200">
                <a:solidFill>
                  <a:schemeClr val="accent1"/>
                </a:solidFill>
                <a:latin typeface="Yu Gothic Medium" panose="020B0400000000000000" pitchFamily="34" charset="-128"/>
                <a:ea typeface="Yu Gothic Medium" panose="020B0400000000000000" pitchFamily="34" charset="-128"/>
              </a:rPr>
              <a:t>モニターやディスプレイに映しながら見る</a:t>
            </a:r>
          </a:p>
        </p:txBody>
      </p:sp>
      <p:sp>
        <p:nvSpPr>
          <p:cNvPr id="44" name="Rounded Rectangle 43">
            <a:extLst>
              <a:ext uri="{FF2B5EF4-FFF2-40B4-BE49-F238E27FC236}">
                <a16:creationId xmlns:a16="http://schemas.microsoft.com/office/drawing/2014/main" id="{24BC1C91-0081-7F67-6758-87136345AC75}"/>
              </a:ext>
            </a:extLst>
          </p:cNvPr>
          <p:cNvSpPr/>
          <p:nvPr/>
        </p:nvSpPr>
        <p:spPr>
          <a:xfrm>
            <a:off x="6260064" y="4948237"/>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プロジェクトリーダー</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問題把握と打開策のアイディアを検討するために利用</a:t>
            </a:r>
          </a:p>
          <a:p>
            <a:pPr marL="171450" indent="-171450">
              <a:lnSpc>
                <a:spcPct val="130000"/>
              </a:lnSpc>
              <a:buFont typeface="Arial" panose="020B0604020202020204" pitchFamily="34" charset="0"/>
              <a:buChar char="•"/>
            </a:pPr>
            <a:r>
              <a:rPr lang="en-JP" sz="1200" dirty="0">
                <a:solidFill>
                  <a:schemeClr val="accent1"/>
                </a:solidFill>
                <a:latin typeface="Yu Gothic Medium" panose="020B0400000000000000" pitchFamily="34" charset="-128"/>
                <a:ea typeface="Yu Gothic Medium" panose="020B0400000000000000" pitchFamily="34" charset="-128"/>
              </a:rPr>
              <a:t>自身のラップトップで確認する</a:t>
            </a:r>
          </a:p>
        </p:txBody>
      </p:sp>
      <p:sp>
        <p:nvSpPr>
          <p:cNvPr id="6" name="Rectangle 5">
            <a:extLst>
              <a:ext uri="{FF2B5EF4-FFF2-40B4-BE49-F238E27FC236}">
                <a16:creationId xmlns:a16="http://schemas.microsoft.com/office/drawing/2014/main" id="{AEF7AB69-2E2D-8485-032F-C4EA2F54EA9F}"/>
              </a:ext>
            </a:extLst>
          </p:cNvPr>
          <p:cNvSpPr/>
          <p:nvPr/>
        </p:nvSpPr>
        <p:spPr>
          <a:xfrm rot="2700000">
            <a:off x="10766639" y="296577"/>
            <a:ext cx="1870761" cy="4110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1400" dirty="0"/>
              <a:t>記入サンプル</a:t>
            </a:r>
          </a:p>
        </p:txBody>
      </p:sp>
      <p:sp>
        <p:nvSpPr>
          <p:cNvPr id="15" name="TextBox 14">
            <a:extLst>
              <a:ext uri="{FF2B5EF4-FFF2-40B4-BE49-F238E27FC236}">
                <a16:creationId xmlns:a16="http://schemas.microsoft.com/office/drawing/2014/main" id="{9EA9A6A1-D4D2-AABA-0C23-B3CF126BDA96}"/>
              </a:ext>
            </a:extLst>
          </p:cNvPr>
          <p:cNvSpPr txBox="1"/>
          <p:nvPr/>
        </p:nvSpPr>
        <p:spPr>
          <a:xfrm>
            <a:off x="12697691" y="5299364"/>
            <a:ext cx="184731" cy="369332"/>
          </a:xfrm>
          <a:prstGeom prst="rect">
            <a:avLst/>
          </a:prstGeom>
          <a:noFill/>
        </p:spPr>
        <p:txBody>
          <a:bodyPr wrap="none" rtlCol="0">
            <a:spAutoFit/>
          </a:bodyPr>
          <a:lstStyle/>
          <a:p>
            <a:endParaRPr lang="en-JP" dirty="0"/>
          </a:p>
        </p:txBody>
      </p:sp>
    </p:spTree>
    <p:extLst>
      <p:ext uri="{BB962C8B-B14F-4D97-AF65-F5344CB8AC3E}">
        <p14:creationId xmlns:p14="http://schemas.microsoft.com/office/powerpoint/2010/main" val="3402734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CDC1A6-73C7-D620-9B66-393FA69476CD}"/>
              </a:ext>
            </a:extLst>
          </p:cNvPr>
          <p:cNvSpPr txBox="1"/>
          <p:nvPr/>
        </p:nvSpPr>
        <p:spPr>
          <a:xfrm>
            <a:off x="263525" y="692150"/>
            <a:ext cx="2776722"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プロジェクトの基本情報</a:t>
            </a:r>
          </a:p>
        </p:txBody>
      </p:sp>
      <p:sp>
        <p:nvSpPr>
          <p:cNvPr id="3" name="TextBox 2">
            <a:extLst>
              <a:ext uri="{FF2B5EF4-FFF2-40B4-BE49-F238E27FC236}">
                <a16:creationId xmlns:a16="http://schemas.microsoft.com/office/drawing/2014/main" id="{55AE59C4-3964-B97B-03C6-12E56E181309}"/>
              </a:ext>
            </a:extLst>
          </p:cNvPr>
          <p:cNvSpPr txBox="1"/>
          <p:nvPr/>
        </p:nvSpPr>
        <p:spPr>
          <a:xfrm>
            <a:off x="263525" y="182995"/>
            <a:ext cx="3336170"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要件定義ワークシート（1/2）</a:t>
            </a:r>
          </a:p>
        </p:txBody>
      </p:sp>
      <p:sp>
        <p:nvSpPr>
          <p:cNvPr id="5" name="Rounded Rectangle 4">
            <a:extLst>
              <a:ext uri="{FF2B5EF4-FFF2-40B4-BE49-F238E27FC236}">
                <a16:creationId xmlns:a16="http://schemas.microsoft.com/office/drawing/2014/main" id="{97341F0E-A3D7-D8B0-D376-B08E9E8D9797}"/>
              </a:ext>
            </a:extLst>
          </p:cNvPr>
          <p:cNvSpPr/>
          <p:nvPr/>
        </p:nvSpPr>
        <p:spPr>
          <a:xfrm>
            <a:off x="263525" y="1555723"/>
            <a:ext cx="5700857" cy="1274644"/>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9" name="TextBox 8">
            <a:extLst>
              <a:ext uri="{FF2B5EF4-FFF2-40B4-BE49-F238E27FC236}">
                <a16:creationId xmlns:a16="http://schemas.microsoft.com/office/drawing/2014/main" id="{0A224B43-516F-A1B6-EF9C-182853B6D3F0}"/>
              </a:ext>
            </a:extLst>
          </p:cNvPr>
          <p:cNvSpPr txBox="1"/>
          <p:nvPr/>
        </p:nvSpPr>
        <p:spPr>
          <a:xfrm>
            <a:off x="263525" y="120363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達成すべき目標</a:t>
            </a:r>
            <a:r>
              <a:rPr lang="en-JP" sz="1200" dirty="0">
                <a:solidFill>
                  <a:schemeClr val="tx1"/>
                </a:solidFill>
                <a:latin typeface="Yu Gothic Medium" panose="020B0400000000000000" pitchFamily="34" charset="-128"/>
                <a:ea typeface="Yu Gothic Medium" panose="020B0400000000000000" pitchFamily="34" charset="-128"/>
              </a:rPr>
              <a:t>（プロジェクトが成功と言える状態は何か？）</a:t>
            </a:r>
            <a:endParaRPr lang="en-JP" sz="1800" dirty="0">
              <a:solidFill>
                <a:schemeClr val="tx1"/>
              </a:solidFill>
              <a:latin typeface="Yu Gothic Medium" panose="020B0400000000000000" pitchFamily="34" charset="-128"/>
              <a:ea typeface="Yu Gothic Medium" panose="020B0400000000000000" pitchFamily="34" charset="-128"/>
            </a:endParaRPr>
          </a:p>
        </p:txBody>
      </p:sp>
      <p:sp>
        <p:nvSpPr>
          <p:cNvPr id="10" name="Rounded Rectangle 9">
            <a:extLst>
              <a:ext uri="{FF2B5EF4-FFF2-40B4-BE49-F238E27FC236}">
                <a16:creationId xmlns:a16="http://schemas.microsoft.com/office/drawing/2014/main" id="{894092D4-A578-257F-7229-36A561FE2554}"/>
              </a:ext>
            </a:extLst>
          </p:cNvPr>
          <p:cNvSpPr/>
          <p:nvPr/>
        </p:nvSpPr>
        <p:spPr>
          <a:xfrm>
            <a:off x="263525" y="3303243"/>
            <a:ext cx="5700857" cy="1274644"/>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12" name="TextBox 11">
            <a:extLst>
              <a:ext uri="{FF2B5EF4-FFF2-40B4-BE49-F238E27FC236}">
                <a16:creationId xmlns:a16="http://schemas.microsoft.com/office/drawing/2014/main" id="{DB0285C1-D53F-770D-8366-8BCE1E941E75}"/>
              </a:ext>
            </a:extLst>
          </p:cNvPr>
          <p:cNvSpPr txBox="1"/>
          <p:nvPr/>
        </p:nvSpPr>
        <p:spPr>
          <a:xfrm>
            <a:off x="263525" y="295115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関係者</a:t>
            </a:r>
            <a:r>
              <a:rPr lang="en-JP" sz="1200" dirty="0">
                <a:solidFill>
                  <a:schemeClr val="tx1"/>
                </a:solidFill>
                <a:latin typeface="Yu Gothic Medium" panose="020B0400000000000000" pitchFamily="34" charset="-128"/>
                <a:ea typeface="Yu Gothic Medium" panose="020B0400000000000000" pitchFamily="34" charset="-128"/>
              </a:rPr>
              <a:t>（意思決定者・ダッシュボードを見る人等は誰か？）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14" name="Rounded Rectangle 13">
            <a:extLst>
              <a:ext uri="{FF2B5EF4-FFF2-40B4-BE49-F238E27FC236}">
                <a16:creationId xmlns:a16="http://schemas.microsoft.com/office/drawing/2014/main" id="{F286C86B-C396-B4D5-8A05-2A4F238B85FD}"/>
              </a:ext>
            </a:extLst>
          </p:cNvPr>
          <p:cNvSpPr/>
          <p:nvPr/>
        </p:nvSpPr>
        <p:spPr>
          <a:xfrm>
            <a:off x="263525" y="5081243"/>
            <a:ext cx="5700857" cy="1274644"/>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16" name="TextBox 15">
            <a:extLst>
              <a:ext uri="{FF2B5EF4-FFF2-40B4-BE49-F238E27FC236}">
                <a16:creationId xmlns:a16="http://schemas.microsoft.com/office/drawing/2014/main" id="{CF7A1909-F8B3-F68B-930C-5CB499D8C437}"/>
              </a:ext>
            </a:extLst>
          </p:cNvPr>
          <p:cNvSpPr txBox="1"/>
          <p:nvPr/>
        </p:nvSpPr>
        <p:spPr>
          <a:xfrm>
            <a:off x="263525" y="472915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ダッシュボードの制約</a:t>
            </a:r>
            <a:r>
              <a:rPr lang="en-JP" sz="1200" dirty="0">
                <a:solidFill>
                  <a:schemeClr val="tx1"/>
                </a:solidFill>
                <a:latin typeface="Yu Gothic Medium" panose="020B0400000000000000" pitchFamily="34" charset="-128"/>
                <a:ea typeface="Yu Gothic Medium" panose="020B0400000000000000" pitchFamily="34" charset="-128"/>
              </a:rPr>
              <a:t>（掲載媒体や画面的制約は何か？）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17" name="Rounded Rectangle 16">
            <a:extLst>
              <a:ext uri="{FF2B5EF4-FFF2-40B4-BE49-F238E27FC236}">
                <a16:creationId xmlns:a16="http://schemas.microsoft.com/office/drawing/2014/main" id="{72167D4C-2DFD-B642-2D86-D05C3F44D2DB}"/>
              </a:ext>
            </a:extLst>
          </p:cNvPr>
          <p:cNvSpPr/>
          <p:nvPr/>
        </p:nvSpPr>
        <p:spPr>
          <a:xfrm>
            <a:off x="6237605" y="1555723"/>
            <a:ext cx="5700857" cy="1274644"/>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18" name="TextBox 17">
            <a:extLst>
              <a:ext uri="{FF2B5EF4-FFF2-40B4-BE49-F238E27FC236}">
                <a16:creationId xmlns:a16="http://schemas.microsoft.com/office/drawing/2014/main" id="{914261AA-B7A0-1287-5B7E-554A906DBD1E}"/>
              </a:ext>
            </a:extLst>
          </p:cNvPr>
          <p:cNvSpPr txBox="1"/>
          <p:nvPr/>
        </p:nvSpPr>
        <p:spPr>
          <a:xfrm>
            <a:off x="6237605" y="120363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データの制約</a:t>
            </a:r>
            <a:r>
              <a:rPr lang="en-JP" sz="1200" dirty="0">
                <a:solidFill>
                  <a:schemeClr val="tx1"/>
                </a:solidFill>
                <a:latin typeface="Yu Gothic Medium" panose="020B0400000000000000" pitchFamily="34" charset="-128"/>
                <a:ea typeface="Yu Gothic Medium" panose="020B0400000000000000" pitchFamily="34" charset="-128"/>
              </a:rPr>
              <a:t>（データ項目や更新頻度、分解粒度の制約は何か？）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19" name="Rounded Rectangle 18">
            <a:extLst>
              <a:ext uri="{FF2B5EF4-FFF2-40B4-BE49-F238E27FC236}">
                <a16:creationId xmlns:a16="http://schemas.microsoft.com/office/drawing/2014/main" id="{2651EEEC-5A84-BFA9-FC03-87DA9AC9C236}"/>
              </a:ext>
            </a:extLst>
          </p:cNvPr>
          <p:cNvSpPr/>
          <p:nvPr/>
        </p:nvSpPr>
        <p:spPr>
          <a:xfrm>
            <a:off x="6237605" y="3303243"/>
            <a:ext cx="5700857" cy="1274644"/>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20" name="TextBox 19">
            <a:extLst>
              <a:ext uri="{FF2B5EF4-FFF2-40B4-BE49-F238E27FC236}">
                <a16:creationId xmlns:a16="http://schemas.microsoft.com/office/drawing/2014/main" id="{DB3351D0-7E49-9880-D3C5-361F91CBDE80}"/>
              </a:ext>
            </a:extLst>
          </p:cNvPr>
          <p:cNvSpPr txBox="1"/>
          <p:nvPr/>
        </p:nvSpPr>
        <p:spPr>
          <a:xfrm>
            <a:off x="6237605" y="295115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想定されるリスクと許容度</a:t>
            </a:r>
            <a:r>
              <a:rPr lang="en-JP" sz="1200" dirty="0">
                <a:solidFill>
                  <a:schemeClr val="tx1"/>
                </a:solidFill>
                <a:latin typeface="Yu Gothic Medium" panose="020B0400000000000000" pitchFamily="34" charset="-128"/>
                <a:ea typeface="Yu Gothic Medium" panose="020B0400000000000000" pitchFamily="34" charset="-128"/>
              </a:rPr>
              <a:t>（考慮すべきことは何か？）</a:t>
            </a:r>
            <a:endParaRPr lang="en-JP" sz="1400" dirty="0">
              <a:solidFill>
                <a:schemeClr val="tx1"/>
              </a:solidFill>
              <a:latin typeface="Yu Gothic Medium" panose="020B0400000000000000" pitchFamily="34" charset="-128"/>
              <a:ea typeface="Yu Gothic Medium" panose="020B0400000000000000" pitchFamily="34" charset="-128"/>
            </a:endParaRPr>
          </a:p>
        </p:txBody>
      </p:sp>
      <p:sp>
        <p:nvSpPr>
          <p:cNvPr id="21" name="Rounded Rectangle 20">
            <a:extLst>
              <a:ext uri="{FF2B5EF4-FFF2-40B4-BE49-F238E27FC236}">
                <a16:creationId xmlns:a16="http://schemas.microsoft.com/office/drawing/2014/main" id="{D5FE7266-A8EA-CA70-1A33-2194A5CE3EC7}"/>
              </a:ext>
            </a:extLst>
          </p:cNvPr>
          <p:cNvSpPr/>
          <p:nvPr/>
        </p:nvSpPr>
        <p:spPr>
          <a:xfrm>
            <a:off x="6237605" y="5081243"/>
            <a:ext cx="5700857" cy="1274644"/>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22" name="TextBox 21">
            <a:extLst>
              <a:ext uri="{FF2B5EF4-FFF2-40B4-BE49-F238E27FC236}">
                <a16:creationId xmlns:a16="http://schemas.microsoft.com/office/drawing/2014/main" id="{B7BA464D-A842-7A65-DEBD-99946EA7CD81}"/>
              </a:ext>
            </a:extLst>
          </p:cNvPr>
          <p:cNvSpPr txBox="1"/>
          <p:nvPr/>
        </p:nvSpPr>
        <p:spPr>
          <a:xfrm>
            <a:off x="6237605" y="4729159"/>
            <a:ext cx="5700857" cy="352084"/>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スケジュールの整理</a:t>
            </a:r>
            <a:endParaRPr lang="en-JP" sz="1400" dirty="0">
              <a:solidFill>
                <a:schemeClr val="tx1"/>
              </a:solidFill>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3766229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Straight Arrow Connector 46">
            <a:extLst>
              <a:ext uri="{FF2B5EF4-FFF2-40B4-BE49-F238E27FC236}">
                <a16:creationId xmlns:a16="http://schemas.microsoft.com/office/drawing/2014/main" id="{14697B86-3D64-FEB0-6813-A8F02DBCE8CD}"/>
              </a:ext>
            </a:extLst>
          </p:cNvPr>
          <p:cNvCxnSpPr>
            <a:cxnSpLocks/>
          </p:cNvCxnSpPr>
          <p:nvPr/>
        </p:nvCxnSpPr>
        <p:spPr>
          <a:xfrm>
            <a:off x="2966255" y="4186469"/>
            <a:ext cx="6268551"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4590F2A-C2A2-0958-6053-7856C3310958}"/>
              </a:ext>
            </a:extLst>
          </p:cNvPr>
          <p:cNvCxnSpPr>
            <a:cxnSpLocks/>
          </p:cNvCxnSpPr>
          <p:nvPr/>
        </p:nvCxnSpPr>
        <p:spPr>
          <a:xfrm>
            <a:off x="2966255" y="5646737"/>
            <a:ext cx="6268551"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F9B9A00-B884-A812-D3C5-7A7639EDA92B}"/>
              </a:ext>
            </a:extLst>
          </p:cNvPr>
          <p:cNvCxnSpPr>
            <a:cxnSpLocks/>
          </p:cNvCxnSpPr>
          <p:nvPr/>
        </p:nvCxnSpPr>
        <p:spPr>
          <a:xfrm>
            <a:off x="2966255" y="2730500"/>
            <a:ext cx="6268551"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9CDC1A6-73C7-D620-9B66-393FA69476CD}"/>
              </a:ext>
            </a:extLst>
          </p:cNvPr>
          <p:cNvSpPr txBox="1"/>
          <p:nvPr/>
        </p:nvSpPr>
        <p:spPr>
          <a:xfrm>
            <a:off x="263525" y="692150"/>
            <a:ext cx="2492990"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ダッシュボードの目的</a:t>
            </a:r>
          </a:p>
        </p:txBody>
      </p:sp>
      <p:sp>
        <p:nvSpPr>
          <p:cNvPr id="3" name="TextBox 2">
            <a:extLst>
              <a:ext uri="{FF2B5EF4-FFF2-40B4-BE49-F238E27FC236}">
                <a16:creationId xmlns:a16="http://schemas.microsoft.com/office/drawing/2014/main" id="{55AE59C4-3964-B97B-03C6-12E56E181309}"/>
              </a:ext>
            </a:extLst>
          </p:cNvPr>
          <p:cNvSpPr txBox="1"/>
          <p:nvPr/>
        </p:nvSpPr>
        <p:spPr>
          <a:xfrm>
            <a:off x="263525" y="182995"/>
            <a:ext cx="3401893" cy="369332"/>
          </a:xfrm>
          <a:prstGeom prst="rect">
            <a:avLst/>
          </a:prstGeom>
          <a:noFill/>
        </p:spPr>
        <p:txBody>
          <a:bodyPr wrap="none" rtlCol="0">
            <a:spAutoFit/>
          </a:bodyPr>
          <a:lstStyle/>
          <a:p>
            <a:r>
              <a:rPr lang="en-JP" b="1" dirty="0">
                <a:latin typeface="Yu Gothic" panose="020B0400000000000000" pitchFamily="34" charset="-128"/>
                <a:ea typeface="Yu Gothic" panose="020B0400000000000000" pitchFamily="34" charset="-128"/>
              </a:rPr>
              <a:t>要件定義ワークシート （2/2）</a:t>
            </a:r>
          </a:p>
        </p:txBody>
      </p:sp>
      <p:sp>
        <p:nvSpPr>
          <p:cNvPr id="5" name="Rounded Rectangle 4">
            <a:extLst>
              <a:ext uri="{FF2B5EF4-FFF2-40B4-BE49-F238E27FC236}">
                <a16:creationId xmlns:a16="http://schemas.microsoft.com/office/drawing/2014/main" id="{97341F0E-A3D7-D8B0-D376-B08E9E8D9797}"/>
              </a:ext>
            </a:extLst>
          </p:cNvPr>
          <p:cNvSpPr/>
          <p:nvPr/>
        </p:nvSpPr>
        <p:spPr>
          <a:xfrm>
            <a:off x="263525" y="2031998"/>
            <a:ext cx="2702730" cy="4313239"/>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12" name="Rounded Rectangle 11">
            <a:extLst>
              <a:ext uri="{FF2B5EF4-FFF2-40B4-BE49-F238E27FC236}">
                <a16:creationId xmlns:a16="http://schemas.microsoft.com/office/drawing/2014/main" id="{C3E355A1-6209-32C0-CF42-E3B159A75D0C}"/>
              </a:ext>
            </a:extLst>
          </p:cNvPr>
          <p:cNvSpPr/>
          <p:nvPr/>
        </p:nvSpPr>
        <p:spPr>
          <a:xfrm>
            <a:off x="9236848" y="2032000"/>
            <a:ext cx="2691626" cy="4313238"/>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9" name="Rounded Rectangle 8">
            <a:extLst>
              <a:ext uri="{FF2B5EF4-FFF2-40B4-BE49-F238E27FC236}">
                <a16:creationId xmlns:a16="http://schemas.microsoft.com/office/drawing/2014/main" id="{75365100-2068-75D7-69D4-6CB3E42E302B}"/>
              </a:ext>
            </a:extLst>
          </p:cNvPr>
          <p:cNvSpPr/>
          <p:nvPr/>
        </p:nvSpPr>
        <p:spPr>
          <a:xfrm>
            <a:off x="3262864" y="2032000"/>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30" name="TextBox 29">
            <a:extLst>
              <a:ext uri="{FF2B5EF4-FFF2-40B4-BE49-F238E27FC236}">
                <a16:creationId xmlns:a16="http://schemas.microsoft.com/office/drawing/2014/main" id="{A5A7F34B-C274-3E0E-BBE2-4F078DDE8744}"/>
              </a:ext>
            </a:extLst>
          </p:cNvPr>
          <p:cNvSpPr txBox="1"/>
          <p:nvPr/>
        </p:nvSpPr>
        <p:spPr>
          <a:xfrm>
            <a:off x="263525" y="6471774"/>
            <a:ext cx="10116872" cy="253916"/>
          </a:xfrm>
          <a:prstGeom prst="rect">
            <a:avLst/>
          </a:prstGeom>
          <a:noFill/>
        </p:spPr>
        <p:txBody>
          <a:bodyPr wrap="none" rtlCol="0">
            <a:spAutoFit/>
          </a:bodyPr>
          <a:lstStyle/>
          <a:p>
            <a:r>
              <a:rPr lang="en-JP" sz="1050" dirty="0">
                <a:solidFill>
                  <a:schemeClr val="tx1">
                    <a:lumMod val="50000"/>
                    <a:lumOff val="50000"/>
                  </a:schemeClr>
                </a:solidFill>
                <a:latin typeface="Yu Gothic" panose="020B0400000000000000" pitchFamily="34" charset="-128"/>
                <a:ea typeface="Yu Gothic" panose="020B0400000000000000" pitchFamily="34" charset="-128"/>
              </a:rPr>
              <a:t>※目的を達成するために必要な行動や情報（What, so What）は、複数ある場合が多いです。また、それらの項目ごとに誰が、いつ、どこで見るのかが異なります。</a:t>
            </a:r>
          </a:p>
        </p:txBody>
      </p:sp>
      <p:sp>
        <p:nvSpPr>
          <p:cNvPr id="34" name="TextBox 33">
            <a:extLst>
              <a:ext uri="{FF2B5EF4-FFF2-40B4-BE49-F238E27FC236}">
                <a16:creationId xmlns:a16="http://schemas.microsoft.com/office/drawing/2014/main" id="{D22EF5D6-816E-5042-0926-FEEB8443219B}"/>
              </a:ext>
            </a:extLst>
          </p:cNvPr>
          <p:cNvSpPr txBox="1"/>
          <p:nvPr/>
        </p:nvSpPr>
        <p:spPr>
          <a:xfrm>
            <a:off x="263526" y="1203639"/>
            <a:ext cx="2702730" cy="595035"/>
          </a:xfrm>
          <a:prstGeom prst="rect">
            <a:avLst/>
          </a:prstGeom>
          <a:noFill/>
        </p:spPr>
        <p:txBody>
          <a:bodyPr wrap="square">
            <a:spAutoFit/>
          </a:bodyPr>
          <a:lstStyle/>
          <a:p>
            <a:pPr>
              <a:lnSpc>
                <a:spcPct val="130000"/>
              </a:lnSpc>
            </a:pPr>
            <a:r>
              <a:rPr lang="en-JP" sz="1400" b="1" dirty="0">
                <a:solidFill>
                  <a:schemeClr val="tx1"/>
                </a:solidFill>
                <a:latin typeface="Yu Gothic" panose="020B0400000000000000" pitchFamily="34" charset="-128"/>
                <a:ea typeface="Yu Gothic" panose="020B0400000000000000" pitchFamily="34" charset="-128"/>
              </a:rPr>
              <a:t>Why</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ダッシュボードの目的は何か？</a:t>
            </a:r>
          </a:p>
        </p:txBody>
      </p:sp>
      <p:sp>
        <p:nvSpPr>
          <p:cNvPr id="38" name="TextBox 37">
            <a:extLst>
              <a:ext uri="{FF2B5EF4-FFF2-40B4-BE49-F238E27FC236}">
                <a16:creationId xmlns:a16="http://schemas.microsoft.com/office/drawing/2014/main" id="{68544B6F-1B2B-0A40-6598-CD88EE18561E}"/>
              </a:ext>
            </a:extLst>
          </p:cNvPr>
          <p:cNvSpPr txBox="1"/>
          <p:nvPr/>
        </p:nvSpPr>
        <p:spPr>
          <a:xfrm>
            <a:off x="6247766" y="1203639"/>
            <a:ext cx="2702730" cy="595035"/>
          </a:xfrm>
          <a:prstGeom prst="rect">
            <a:avLst/>
          </a:prstGeom>
          <a:noFill/>
        </p:spPr>
        <p:txBody>
          <a:bodyPr wrap="square">
            <a:spAutoFit/>
          </a:bodyPr>
          <a:lstStyle/>
          <a:p>
            <a:pPr>
              <a:lnSpc>
                <a:spcPct val="130000"/>
              </a:lnSpc>
            </a:pPr>
            <a:r>
              <a:rPr lang="en-JP" sz="1400" b="1" dirty="0">
                <a:solidFill>
                  <a:schemeClr val="tx1"/>
                </a:solidFill>
                <a:latin typeface="Yu Gothic Medium" panose="020B0400000000000000" pitchFamily="34" charset="-128"/>
                <a:ea typeface="Yu Gothic Medium" panose="020B0400000000000000" pitchFamily="34" charset="-128"/>
              </a:rPr>
              <a:t>Who, When, Where</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誰が、いつ、どこで見るのか？</a:t>
            </a:r>
          </a:p>
        </p:txBody>
      </p:sp>
      <p:sp>
        <p:nvSpPr>
          <p:cNvPr id="39" name="TextBox 38">
            <a:extLst>
              <a:ext uri="{FF2B5EF4-FFF2-40B4-BE49-F238E27FC236}">
                <a16:creationId xmlns:a16="http://schemas.microsoft.com/office/drawing/2014/main" id="{E998F9CE-3F7E-2470-4A85-BF8378B40C47}"/>
              </a:ext>
            </a:extLst>
          </p:cNvPr>
          <p:cNvSpPr txBox="1"/>
          <p:nvPr/>
        </p:nvSpPr>
        <p:spPr>
          <a:xfrm>
            <a:off x="9234806" y="1203639"/>
            <a:ext cx="2702730" cy="796565"/>
          </a:xfrm>
          <a:prstGeom prst="rect">
            <a:avLst/>
          </a:prstGeom>
          <a:noFill/>
        </p:spPr>
        <p:txBody>
          <a:bodyPr wrap="square">
            <a:spAutoFit/>
          </a:bodyPr>
          <a:lstStyle/>
          <a:p>
            <a:pPr>
              <a:lnSpc>
                <a:spcPct val="130000"/>
              </a:lnSpc>
            </a:pPr>
            <a:r>
              <a:rPr lang="en-JP" sz="1400" b="1" dirty="0">
                <a:solidFill>
                  <a:schemeClr val="tx1"/>
                </a:solidFill>
                <a:latin typeface="Yu Gothic" panose="020B0400000000000000" pitchFamily="34" charset="-128"/>
                <a:ea typeface="Yu Gothic" panose="020B0400000000000000" pitchFamily="34" charset="-128"/>
              </a:rPr>
              <a:t>How</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求められる機能やデータ項目は何か？</a:t>
            </a:r>
          </a:p>
          <a:p>
            <a:pPr>
              <a:lnSpc>
                <a:spcPct val="130000"/>
              </a:lnSpc>
            </a:pPr>
            <a:r>
              <a:rPr lang="en-JP" sz="1100" dirty="0">
                <a:solidFill>
                  <a:schemeClr val="tx1"/>
                </a:solidFill>
                <a:latin typeface="Yu Gothic Medium" panose="020B0400000000000000" pitchFamily="34" charset="-128"/>
                <a:ea typeface="Yu Gothic Medium" panose="020B0400000000000000" pitchFamily="34" charset="-128"/>
              </a:rPr>
              <a:t>必要な更新頻度は？</a:t>
            </a:r>
          </a:p>
        </p:txBody>
      </p:sp>
      <p:sp>
        <p:nvSpPr>
          <p:cNvPr id="40" name="Rounded Rectangle 39">
            <a:extLst>
              <a:ext uri="{FF2B5EF4-FFF2-40B4-BE49-F238E27FC236}">
                <a16:creationId xmlns:a16="http://schemas.microsoft.com/office/drawing/2014/main" id="{67A174C4-617E-8699-67CD-0769A486A47F}"/>
              </a:ext>
            </a:extLst>
          </p:cNvPr>
          <p:cNvSpPr/>
          <p:nvPr/>
        </p:nvSpPr>
        <p:spPr>
          <a:xfrm>
            <a:off x="3262864" y="3487969"/>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41" name="Rounded Rectangle 40">
            <a:extLst>
              <a:ext uri="{FF2B5EF4-FFF2-40B4-BE49-F238E27FC236}">
                <a16:creationId xmlns:a16="http://schemas.microsoft.com/office/drawing/2014/main" id="{9CFF12A8-80FE-BDC3-B79A-62C796D47962}"/>
              </a:ext>
            </a:extLst>
          </p:cNvPr>
          <p:cNvSpPr/>
          <p:nvPr/>
        </p:nvSpPr>
        <p:spPr>
          <a:xfrm>
            <a:off x="3262864" y="4948237"/>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42" name="Rounded Rectangle 41">
            <a:extLst>
              <a:ext uri="{FF2B5EF4-FFF2-40B4-BE49-F238E27FC236}">
                <a16:creationId xmlns:a16="http://schemas.microsoft.com/office/drawing/2014/main" id="{01FCA006-5134-9ABC-110C-BE3BB3356CF3}"/>
              </a:ext>
            </a:extLst>
          </p:cNvPr>
          <p:cNvSpPr/>
          <p:nvPr/>
        </p:nvSpPr>
        <p:spPr>
          <a:xfrm>
            <a:off x="6260064" y="2032000"/>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43" name="Rounded Rectangle 42">
            <a:extLst>
              <a:ext uri="{FF2B5EF4-FFF2-40B4-BE49-F238E27FC236}">
                <a16:creationId xmlns:a16="http://schemas.microsoft.com/office/drawing/2014/main" id="{8AD9D970-F14C-B7E6-D126-69940DDE879E}"/>
              </a:ext>
            </a:extLst>
          </p:cNvPr>
          <p:cNvSpPr/>
          <p:nvPr/>
        </p:nvSpPr>
        <p:spPr>
          <a:xfrm>
            <a:off x="6260064" y="3487969"/>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44" name="Rounded Rectangle 43">
            <a:extLst>
              <a:ext uri="{FF2B5EF4-FFF2-40B4-BE49-F238E27FC236}">
                <a16:creationId xmlns:a16="http://schemas.microsoft.com/office/drawing/2014/main" id="{24BC1C91-0081-7F67-6758-87136345AC75}"/>
              </a:ext>
            </a:extLst>
          </p:cNvPr>
          <p:cNvSpPr/>
          <p:nvPr/>
        </p:nvSpPr>
        <p:spPr>
          <a:xfrm>
            <a:off x="6260064" y="4948237"/>
            <a:ext cx="2688321" cy="1397000"/>
          </a:xfrm>
          <a:prstGeom prst="roundRect">
            <a:avLst>
              <a:gd name="adj" fmla="val 833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nSpc>
                <a:spcPct val="130000"/>
              </a:lnSpc>
              <a:buFont typeface="+mj-lt"/>
              <a:buAutoNum type="arabicPeriod"/>
            </a:pPr>
            <a:endParaRPr lang="en-JP" sz="1200" dirty="0">
              <a:solidFill>
                <a:schemeClr val="accent1"/>
              </a:solidFill>
              <a:latin typeface="Yu Gothic Medium" panose="020B0400000000000000" pitchFamily="34" charset="-128"/>
              <a:ea typeface="Yu Gothic Medium" panose="020B0400000000000000" pitchFamily="34" charset="-128"/>
            </a:endParaRPr>
          </a:p>
        </p:txBody>
      </p:sp>
      <p:sp>
        <p:nvSpPr>
          <p:cNvPr id="4" name="TextBox 3">
            <a:extLst>
              <a:ext uri="{FF2B5EF4-FFF2-40B4-BE49-F238E27FC236}">
                <a16:creationId xmlns:a16="http://schemas.microsoft.com/office/drawing/2014/main" id="{6A058BE4-AB66-EED5-C015-DF3831E26830}"/>
              </a:ext>
            </a:extLst>
          </p:cNvPr>
          <p:cNvSpPr txBox="1"/>
          <p:nvPr/>
        </p:nvSpPr>
        <p:spPr>
          <a:xfrm>
            <a:off x="3260726" y="1203639"/>
            <a:ext cx="2702730" cy="796565"/>
          </a:xfrm>
          <a:prstGeom prst="rect">
            <a:avLst/>
          </a:prstGeom>
          <a:noFill/>
        </p:spPr>
        <p:txBody>
          <a:bodyPr wrap="square">
            <a:spAutoFit/>
          </a:bodyPr>
          <a:lstStyle/>
          <a:p>
            <a:pPr>
              <a:lnSpc>
                <a:spcPct val="130000"/>
              </a:lnSpc>
            </a:pPr>
            <a:r>
              <a:rPr lang="en-JP" sz="1400" b="1" dirty="0">
                <a:solidFill>
                  <a:schemeClr val="tx1"/>
                </a:solidFill>
                <a:latin typeface="Yu Gothic" panose="020B0400000000000000" pitchFamily="34" charset="-128"/>
                <a:ea typeface="Yu Gothic" panose="020B0400000000000000" pitchFamily="34" charset="-128"/>
              </a:rPr>
              <a:t>What, so What</a:t>
            </a:r>
          </a:p>
          <a:p>
            <a:pPr>
              <a:lnSpc>
                <a:spcPct val="130000"/>
              </a:lnSpc>
            </a:pPr>
            <a:r>
              <a:rPr lang="ja-JP" altLang="en-US" sz="1100">
                <a:solidFill>
                  <a:schemeClr val="tx1"/>
                </a:solidFill>
                <a:latin typeface="Yu Gothic Medium" panose="020B0400000000000000" pitchFamily="34" charset="-128"/>
                <a:ea typeface="Yu Gothic Medium" panose="020B0400000000000000" pitchFamily="34" charset="-128"/>
              </a:rPr>
              <a:t>どんな意思決定や行動のために、</a:t>
            </a:r>
            <a:endParaRPr lang="en-US" altLang="ja-JP" sz="1100" dirty="0">
              <a:solidFill>
                <a:schemeClr val="tx1"/>
              </a:solidFill>
              <a:latin typeface="Yu Gothic Medium" panose="020B0400000000000000" pitchFamily="34" charset="-128"/>
              <a:ea typeface="Yu Gothic Medium" panose="020B0400000000000000" pitchFamily="34" charset="-128"/>
            </a:endParaRPr>
          </a:p>
          <a:p>
            <a:pPr>
              <a:lnSpc>
                <a:spcPct val="130000"/>
              </a:lnSpc>
            </a:pPr>
            <a:r>
              <a:rPr lang="ja-JP" altLang="en-US" sz="1100">
                <a:solidFill>
                  <a:schemeClr val="tx1"/>
                </a:solidFill>
                <a:latin typeface="Yu Gothic Medium" panose="020B0400000000000000" pitchFamily="34" charset="-128"/>
                <a:ea typeface="Yu Gothic Medium" panose="020B0400000000000000" pitchFamily="34" charset="-128"/>
              </a:rPr>
              <a:t>どのような情報を知るべきか？</a:t>
            </a:r>
            <a:endParaRPr lang="en-JP" sz="1100" dirty="0">
              <a:solidFill>
                <a:schemeClr val="tx1"/>
              </a:solidFill>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597793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744001"/>
      </p:ext>
    </p:extLst>
  </p:cSld>
  <p:clrMapOvr>
    <a:masterClrMapping/>
  </p:clrMapOvr>
</p:sld>
</file>

<file path=ppt/theme/theme1.xml><?xml version="1.0" encoding="utf-8"?>
<a:theme xmlns:a="http://schemas.openxmlformats.org/drawingml/2006/main" name="表紙・目次">
  <a:themeElements>
    <a:clrScheme name="デジタル庁ダッシュボードカラーパレット">
      <a:dk1>
        <a:srgbClr val="000000"/>
      </a:dk1>
      <a:lt1>
        <a:srgbClr val="FFFFFF"/>
      </a:lt1>
      <a:dk2>
        <a:srgbClr val="0C21BA"/>
      </a:dk2>
      <a:lt2>
        <a:srgbClr val="F7F8FB"/>
      </a:lt2>
      <a:accent1>
        <a:srgbClr val="0C21B9"/>
      </a:accent1>
      <a:accent2>
        <a:srgbClr val="2E4EE7"/>
      </a:accent2>
      <a:accent3>
        <a:srgbClr val="4F7AE9"/>
      </a:accent3>
      <a:accent4>
        <a:srgbClr val="99B0EC"/>
      </a:accent4>
      <a:accent5>
        <a:srgbClr val="CFDCF0"/>
      </a:accent5>
      <a:accent6>
        <a:srgbClr val="FEFFFF"/>
      </a:accent6>
      <a:hlink>
        <a:srgbClr val="0017B6"/>
      </a:hlink>
      <a:folHlink>
        <a:srgbClr val="954F72"/>
      </a:folHlink>
    </a:clrScheme>
    <a:fontScheme name="Font">
      <a:majorFont>
        <a:latin typeface="Noto Sans JP"/>
        <a:ea typeface="Noto Sans JP"/>
        <a:cs typeface=""/>
      </a:majorFont>
      <a:minorFont>
        <a:latin typeface="Noto Sans JP"/>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3255952-F5FE-D142-8FD9-2967F0F48248}" vid="{F834B85D-0249-B94E-B277-C496A5ADB24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6AAD8481E0AC24D85C9FE7D21D718F5" ma:contentTypeVersion="16" ma:contentTypeDescription="新しいドキュメントを作成します。" ma:contentTypeScope="" ma:versionID="09ecabfc7e57175b9932446cd7a9949f">
  <xsd:schema xmlns:xsd="http://www.w3.org/2001/XMLSchema" xmlns:xs="http://www.w3.org/2001/XMLSchema" xmlns:p="http://schemas.microsoft.com/office/2006/metadata/properties" xmlns:ns1="http://schemas.microsoft.com/sharepoint/v3" xmlns:ns2="29e4c947-8378-451c-8bbb-8dec1f71028c" xmlns:ns3="37e2bcf5-c387-4f7d-bdb7-7a3005869e8d" targetNamespace="http://schemas.microsoft.com/office/2006/metadata/properties" ma:root="true" ma:fieldsID="11fd70c7233199e896b6c8d00c910bfd" ns1:_="" ns2:_="" ns3:_="">
    <xsd:import namespace="http://schemas.microsoft.com/sharepoint/v3"/>
    <xsd:import namespace="29e4c947-8378-451c-8bbb-8dec1f71028c"/>
    <xsd:import namespace="37e2bcf5-c387-4f7d-bdb7-7a3005869e8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lcf76f155ced4ddcb4097134ff3c332f" minOccurs="0"/>
                <xsd:element ref="ns3:TaxCatchAll" minOccurs="0"/>
                <xsd:element ref="ns2:MediaServiceDateTaken"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統合コンプライアンス ポリシーのプロパティ" ma:hidden="true" ma:internalName="_ip_UnifiedCompliancePolicyProperties">
      <xsd:simpleType>
        <xsd:restriction base="dms:Note"/>
      </xsd:simpleType>
    </xsd:element>
    <xsd:element name="_ip_UnifiedCompliancePolicyUIAction" ma:index="17" nillable="true" ma:displayName="統合コンプライアンス ポリシーの UI アクション"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9e4c947-8378-451c-8bbb-8dec1f7102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1e1c6816-2a4f-4461-93c7-8dd281d6228d"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7e2bcf5-c387-4f7d-bdb7-7a3005869e8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622e98b9-b4e2-4f35-ae48-5fdb9f597fb8}" ma:internalName="TaxCatchAll" ma:showField="CatchAllData" ma:web="37e2bcf5-c387-4f7d-bdb7-7a3005869e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29e4c947-8378-451c-8bbb-8dec1f71028c">
      <Terms xmlns="http://schemas.microsoft.com/office/infopath/2007/PartnerControls"/>
    </lcf76f155ced4ddcb4097134ff3c332f>
    <TaxCatchAll xmlns="37e2bcf5-c387-4f7d-bdb7-7a3005869e8d" xsi:nil="true"/>
  </documentManagement>
</p:properties>
</file>

<file path=customXml/itemProps1.xml><?xml version="1.0" encoding="utf-8"?>
<ds:datastoreItem xmlns:ds="http://schemas.openxmlformats.org/officeDocument/2006/customXml" ds:itemID="{A3D3081F-3431-421D-B963-1B0654F950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9e4c947-8378-451c-8bbb-8dec1f71028c"/>
    <ds:schemaRef ds:uri="37e2bcf5-c387-4f7d-bdb7-7a3005869e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E6ADAD-7AE1-4451-AADC-202EF4012D2F}">
  <ds:schemaRefs>
    <ds:schemaRef ds:uri="http://schemas.microsoft.com/sharepoint/v3/contenttype/forms"/>
  </ds:schemaRefs>
</ds:datastoreItem>
</file>

<file path=customXml/itemProps3.xml><?xml version="1.0" encoding="utf-8"?>
<ds:datastoreItem xmlns:ds="http://schemas.openxmlformats.org/officeDocument/2006/customXml" ds:itemID="{C91699D9-FF03-4679-B8AC-C78337DCA166}">
  <ds:schemaRefs>
    <ds:schemaRef ds:uri="http://schemas.microsoft.com/office/2006/metadata/properties"/>
    <ds:schemaRef ds:uri="http://schemas.microsoft.com/office/infopath/2007/PartnerControls"/>
    <ds:schemaRef ds:uri="http://schemas.microsoft.com/sharepoint/v3"/>
    <ds:schemaRef ds:uri="29e4c947-8378-451c-8bbb-8dec1f71028c"/>
    <ds:schemaRef ds:uri="37e2bcf5-c387-4f7d-bdb7-7a3005869e8d"/>
  </ds:schemaRefs>
</ds:datastoreItem>
</file>

<file path=docProps/app.xml><?xml version="1.0" encoding="utf-8"?>
<Properties xmlns="http://schemas.openxmlformats.org/officeDocument/2006/extended-properties" xmlns:vt="http://schemas.openxmlformats.org/officeDocument/2006/docPropsVTypes">
  <Template>表紙・目次</Template>
  <TotalTime>6947</TotalTime>
  <Words>544</Words>
  <PresentationFormat>Widescreen</PresentationFormat>
  <Paragraphs>79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Yu Gothic</vt:lpstr>
      <vt:lpstr>Yu Gothic</vt:lpstr>
      <vt:lpstr>Yu Gothic Medium</vt:lpstr>
      <vt:lpstr>Arial</vt:lpstr>
      <vt:lpstr>表紙・目次</vt:lpstr>
      <vt:lpstr>要件定義ワークシート</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2024-04-11T23:44:02Z</dcterms:created>
  <dcterms:modified xsi:type="dcterms:W3CDTF">2024-05-28T02:17:51Z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0x01010006AAD8481E0AC24D85C9FE7D21D718F5</vt:lpwstr>
  </property>
  <property fmtid="{D5CDD505-2E9C-101B-9397-08002B2CF9AE}" pid="3" name="MediaServiceImageTags">
    <vt:lpwstr/>
  </property>
</Properties>
</file>